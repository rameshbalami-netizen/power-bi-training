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691"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mesh Balami" userId="03143e4fab820a82" providerId="LiveId" clId="{BD23B1B3-187D-4866-B343-332659291D04}"/>
    <pc:docChg chg="undo custSel modSld">
      <pc:chgData name="Ramesh Balami" userId="03143e4fab820a82" providerId="LiveId" clId="{BD23B1B3-187D-4866-B343-332659291D04}" dt="2026-09-20T22:05:21.005" v="48" actId="1076"/>
      <pc:docMkLst>
        <pc:docMk/>
      </pc:docMkLst>
      <pc:sldChg chg="modSp mod">
        <pc:chgData name="Ramesh Balami" userId="03143e4fab820a82" providerId="LiveId" clId="{BD23B1B3-187D-4866-B343-332659291D04}" dt="2026-09-20T21:59:23.026" v="44" actId="255"/>
        <pc:sldMkLst>
          <pc:docMk/>
          <pc:sldMk cId="0" sldId="256"/>
        </pc:sldMkLst>
        <pc:spChg chg="mod">
          <ac:chgData name="Ramesh Balami" userId="03143e4fab820a82" providerId="LiveId" clId="{BD23B1B3-187D-4866-B343-332659291D04}" dt="2026-09-20T21:59:23.026" v="44" actId="255"/>
          <ac:spMkLst>
            <pc:docMk/>
            <pc:sldMk cId="0" sldId="256"/>
            <ac:spMk id="2" creationId="{00000000-0000-0000-0000-000000000000}"/>
          </ac:spMkLst>
        </pc:spChg>
        <pc:spChg chg="mod">
          <ac:chgData name="Ramesh Balami" userId="03143e4fab820a82" providerId="LiveId" clId="{BD23B1B3-187D-4866-B343-332659291D04}" dt="2026-09-20T21:58:38.316" v="32" actId="1076"/>
          <ac:spMkLst>
            <pc:docMk/>
            <pc:sldMk cId="0" sldId="256"/>
            <ac:spMk id="3" creationId="{00000000-0000-0000-0000-000000000000}"/>
          </ac:spMkLst>
        </pc:spChg>
      </pc:sldChg>
      <pc:sldChg chg="addSp delSp modSp mod">
        <pc:chgData name="Ramesh Balami" userId="03143e4fab820a82" providerId="LiveId" clId="{BD23B1B3-187D-4866-B343-332659291D04}" dt="2026-09-20T22:05:21.005" v="48" actId="1076"/>
        <pc:sldMkLst>
          <pc:docMk/>
          <pc:sldMk cId="0" sldId="257"/>
        </pc:sldMkLst>
        <pc:graphicFrameChg chg="add del mod">
          <ac:chgData name="Ramesh Balami" userId="03143e4fab820a82" providerId="LiveId" clId="{BD23B1B3-187D-4866-B343-332659291D04}" dt="2026-09-20T22:01:46.277" v="46" actId="478"/>
          <ac:graphicFrameMkLst>
            <pc:docMk/>
            <pc:sldMk cId="0" sldId="257"/>
            <ac:graphicFrameMk id="25" creationId="{BB593A76-0C8F-27D7-993D-28EB4E7A7912}"/>
          </ac:graphicFrameMkLst>
        </pc:graphicFrameChg>
        <pc:graphicFrameChg chg="add mod">
          <ac:chgData name="Ramesh Balami" userId="03143e4fab820a82" providerId="LiveId" clId="{BD23B1B3-187D-4866-B343-332659291D04}" dt="2026-09-20T22:05:21.005" v="48" actId="1076"/>
          <ac:graphicFrameMkLst>
            <pc:docMk/>
            <pc:sldMk cId="0" sldId="257"/>
            <ac:graphicFrameMk id="26" creationId="{F512B190-7816-FFE8-90F2-4096486B72D6}"/>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81526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Overview: match the depth of Power BI training to how each group of employees actually uses Power BI.</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people in a company use Power BI in one of three ways, and 60 hours only makes sense for the last group.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1 about 6 to 8 hours, Tier 2 about 20 to 30 hours, Tier 3 the full 60 hours.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1 covers navigation, filtering and slicers, drill-down, exporting, subscriptions and alerts, and reading the visuals correctly. Skip modelling and DAX entirely.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2 is Module 1 and Module 3 of the plan, plus the first half of Module 2 (Days 8 to 12).</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3 is the full 60 hours, for people who own datasets, write advanced DAX, manage refresh and set up security.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practical points: spread the schedule over 6 to 8 weeks with protected time, and use company data in labs.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goal is well versed rather than certified, most employees will get there with Tier 2. Reserve the full 60 hours for the few who build and maintain the company's datasets.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emf"/><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oleObject" Target="file:///C:\Users\rames\OneDrive\Desktop\RAMESH%20BALAMI\CAREER\PROJECTS\POWER%20BI\Training%20Plan\PowerBI_Corporate_Training_3_Tiers.xlsx" TargetMode="External"/><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24"/>
        </a:solidFill>
        <a:effectLst/>
      </p:bgPr>
    </p:bg>
    <p:spTree>
      <p:nvGrpSpPr>
        <p:cNvPr id="1" name=""/>
        <p:cNvGrpSpPr/>
        <p:nvPr/>
      </p:nvGrpSpPr>
      <p:grpSpPr>
        <a:xfrm>
          <a:off x="0" y="0"/>
          <a:ext cx="0" cy="0"/>
          <a:chOff x="0" y="0"/>
          <a:chExt cx="0" cy="0"/>
        </a:xfrm>
      </p:grpSpPr>
      <p:sp>
        <p:nvSpPr>
          <p:cNvPr id="2" name="Text 0"/>
          <p:cNvSpPr txBox="1"/>
          <p:nvPr/>
        </p:nvSpPr>
        <p:spPr>
          <a:xfrm>
            <a:off x="640080" y="1371600"/>
            <a:ext cx="6309360" cy="2194560"/>
          </a:xfrm>
          <a:prstGeom prst="rect">
            <a:avLst/>
          </a:prstGeom>
          <a:noFill/>
          <a:ln/>
        </p:spPr>
        <p:txBody>
          <a:bodyPr wrap="square" lIns="0" tIns="0" rIns="0" bIns="0" rtlCol="0" anchor="t"/>
          <a:lstStyle/>
          <a:p>
            <a:pPr marL="0" indent="0">
              <a:buNone/>
            </a:pPr>
            <a:r>
              <a:rPr lang="en-US" sz="4400" b="1" dirty="0">
                <a:solidFill>
                  <a:srgbClr val="FFFFFF"/>
                </a:solidFill>
                <a:latin typeface="Cambria" pitchFamily="34" charset="0"/>
                <a:ea typeface="Cambria" pitchFamily="34" charset="-122"/>
                <a:cs typeface="Cambria" pitchFamily="34" charset="-120"/>
              </a:rPr>
              <a:t>Right-sizing</a:t>
            </a:r>
            <a:endParaRPr lang="en-US" sz="4400" dirty="0"/>
          </a:p>
          <a:p>
            <a:pPr marL="0" indent="0">
              <a:buNone/>
            </a:pPr>
            <a:r>
              <a:rPr lang="en-US" sz="4400" b="1" dirty="0">
                <a:solidFill>
                  <a:srgbClr val="FFFFFF"/>
                </a:solidFill>
                <a:latin typeface="Cambria" pitchFamily="34" charset="0"/>
                <a:ea typeface="Cambria" pitchFamily="34" charset="-122"/>
                <a:cs typeface="Cambria" pitchFamily="34" charset="-120"/>
              </a:rPr>
              <a:t>Power BI training</a:t>
            </a:r>
          </a:p>
          <a:p>
            <a:pPr marL="0" indent="0">
              <a:buNone/>
            </a:pPr>
            <a:r>
              <a:rPr lang="en-US" sz="3200" b="1" dirty="0">
                <a:solidFill>
                  <a:srgbClr val="FFFFFF"/>
                </a:solidFill>
                <a:latin typeface="Cambria" pitchFamily="34" charset="0"/>
                <a:ea typeface="Cambria" pitchFamily="34" charset="-122"/>
              </a:rPr>
              <a:t>By Ramesh Balami</a:t>
            </a:r>
            <a:br>
              <a:rPr lang="en-US" sz="4400" b="1" dirty="0">
                <a:solidFill>
                  <a:srgbClr val="FFFFFF"/>
                </a:solidFill>
                <a:latin typeface="Cambria" pitchFamily="34" charset="0"/>
                <a:ea typeface="Cambria" pitchFamily="34" charset="-122"/>
              </a:rPr>
            </a:br>
            <a:r>
              <a:rPr lang="en-US" b="1" dirty="0">
                <a:solidFill>
                  <a:srgbClr val="FFFFFF"/>
                </a:solidFill>
                <a:latin typeface="Cambria" pitchFamily="34" charset="0"/>
                <a:ea typeface="Cambria" pitchFamily="34" charset="-122"/>
              </a:rPr>
              <a:t>Certified </a:t>
            </a:r>
            <a:r>
              <a:rPr lang="nn-NO" b="1" dirty="0">
                <a:solidFill>
                  <a:srgbClr val="FFFFFF"/>
                </a:solidFill>
                <a:latin typeface="Cambria" pitchFamily="34" charset="0"/>
                <a:ea typeface="Cambria" pitchFamily="34" charset="-122"/>
              </a:rPr>
              <a:t>Microsoft Power BI Data Analyst</a:t>
            </a:r>
            <a:br>
              <a:rPr lang="en-US" b="1" dirty="0">
                <a:solidFill>
                  <a:srgbClr val="FFFFFF"/>
                </a:solidFill>
                <a:latin typeface="Cambria" pitchFamily="34" charset="0"/>
                <a:ea typeface="Cambria" pitchFamily="34" charset="-122"/>
              </a:rPr>
            </a:br>
            <a:endParaRPr lang="en-US" b="1" dirty="0">
              <a:solidFill>
                <a:srgbClr val="FFFFFF"/>
              </a:solidFill>
              <a:latin typeface="Cambria" pitchFamily="34" charset="0"/>
              <a:ea typeface="Cambria" pitchFamily="34" charset="-122"/>
            </a:endParaRPr>
          </a:p>
          <a:p>
            <a:pPr marL="0" indent="0">
              <a:buNone/>
            </a:pPr>
            <a:endParaRPr lang="en-US" sz="4400" dirty="0"/>
          </a:p>
        </p:txBody>
      </p:sp>
      <p:sp>
        <p:nvSpPr>
          <p:cNvPr id="3" name="Text 1"/>
          <p:cNvSpPr txBox="1"/>
          <p:nvPr/>
        </p:nvSpPr>
        <p:spPr>
          <a:xfrm>
            <a:off x="716280" y="4910328"/>
            <a:ext cx="5852160" cy="914400"/>
          </a:xfrm>
          <a:prstGeom prst="rect">
            <a:avLst/>
          </a:prstGeom>
          <a:noFill/>
          <a:ln/>
        </p:spPr>
        <p:txBody>
          <a:bodyPr wrap="square" lIns="0" tIns="0" rIns="0" bIns="0" rtlCol="0" anchor="t"/>
          <a:lstStyle/>
          <a:p>
            <a:pPr marL="0" indent="0">
              <a:buNone/>
            </a:pPr>
            <a:r>
              <a:rPr lang="en-US" sz="2000" dirty="0">
                <a:solidFill>
                  <a:srgbClr val="D1D5DB"/>
                </a:solidFill>
                <a:latin typeface="Calibri" pitchFamily="34" charset="0"/>
                <a:ea typeface="Calibri" pitchFamily="34" charset="-122"/>
                <a:cs typeface="Calibri" pitchFamily="34" charset="-120"/>
              </a:rPr>
              <a:t>Three tiers, matched to how employees actually use Power BI</a:t>
            </a:r>
            <a:endParaRPr lang="en-US" sz="2000" dirty="0"/>
          </a:p>
        </p:txBody>
      </p:sp>
      <p:sp>
        <p:nvSpPr>
          <p:cNvPr id="4" name="Shape 2"/>
          <p:cNvSpPr/>
          <p:nvPr/>
        </p:nvSpPr>
        <p:spPr>
          <a:xfrm>
            <a:off x="7406640" y="1097280"/>
            <a:ext cx="4206240" cy="1280160"/>
          </a:xfrm>
          <a:prstGeom prst="roundRect">
            <a:avLst>
              <a:gd name="adj" fmla="val 8571"/>
            </a:avLst>
          </a:prstGeom>
          <a:solidFill>
            <a:srgbClr val="2B2B36"/>
          </a:solidFill>
          <a:ln w="12700">
            <a:solidFill>
              <a:srgbClr val="2B2B36"/>
            </a:solidFill>
            <a:prstDash val="solid"/>
          </a:ln>
        </p:spPr>
      </p:sp>
      <p:sp>
        <p:nvSpPr>
          <p:cNvPr id="5" name="Shape 3"/>
          <p:cNvSpPr/>
          <p:nvPr/>
        </p:nvSpPr>
        <p:spPr>
          <a:xfrm>
            <a:off x="7680960" y="1371600"/>
            <a:ext cx="731520" cy="731520"/>
          </a:xfrm>
          <a:prstGeom prst="ellipse">
            <a:avLst/>
          </a:prstGeom>
          <a:solidFill>
            <a:srgbClr val="F2C811"/>
          </a:solidFill>
          <a:ln w="12700">
            <a:solidFill>
              <a:srgbClr val="F2C811"/>
            </a:solidFill>
            <a:prstDash val="solid"/>
          </a:ln>
        </p:spPr>
      </p:sp>
      <p:pic>
        <p:nvPicPr>
          <p:cNvPr id="6" name="Image 0" descr="preencoded.png"/>
          <p:cNvPicPr>
            <a:picLocks noChangeAspect="1"/>
          </p:cNvPicPr>
          <p:nvPr/>
        </p:nvPicPr>
        <p:blipFill>
          <a:blip r:embed="rId3"/>
          <a:stretch>
            <a:fillRect/>
          </a:stretch>
        </p:blipFill>
        <p:spPr>
          <a:xfrm>
            <a:off x="7871155" y="1561795"/>
            <a:ext cx="351130" cy="351130"/>
          </a:xfrm>
          <a:prstGeom prst="rect">
            <a:avLst/>
          </a:prstGeom>
        </p:spPr>
      </p:pic>
      <p:sp>
        <p:nvSpPr>
          <p:cNvPr id="7" name="Text 4"/>
          <p:cNvSpPr txBox="1"/>
          <p:nvPr/>
        </p:nvSpPr>
        <p:spPr>
          <a:xfrm>
            <a:off x="8641080" y="1280160"/>
            <a:ext cx="2834640" cy="274320"/>
          </a:xfrm>
          <a:prstGeom prst="rect">
            <a:avLst/>
          </a:prstGeom>
          <a:noFill/>
          <a:ln/>
        </p:spPr>
        <p:txBody>
          <a:bodyPr wrap="square" lIns="0" tIns="0" rIns="0" bIns="0" rtlCol="0" anchor="t"/>
          <a:lstStyle/>
          <a:p>
            <a:pPr marL="0" indent="0">
              <a:buNone/>
            </a:pPr>
            <a:r>
              <a:rPr lang="en-US" sz="1200" b="1" dirty="0">
                <a:solidFill>
                  <a:srgbClr val="F2C811"/>
                </a:solidFill>
                <a:latin typeface="Calibri" pitchFamily="34" charset="0"/>
                <a:ea typeface="Calibri" pitchFamily="34" charset="-122"/>
                <a:cs typeface="Calibri" pitchFamily="34" charset="-120"/>
              </a:rPr>
              <a:t>TIER 1</a:t>
            </a:r>
            <a:endParaRPr lang="en-US" sz="1200" dirty="0"/>
          </a:p>
        </p:txBody>
      </p:sp>
      <p:sp>
        <p:nvSpPr>
          <p:cNvPr id="8" name="Text 5"/>
          <p:cNvSpPr txBox="1"/>
          <p:nvPr/>
        </p:nvSpPr>
        <p:spPr>
          <a:xfrm>
            <a:off x="8641080" y="1554480"/>
            <a:ext cx="283464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Report consumers</a:t>
            </a:r>
            <a:endParaRPr lang="en-US" sz="1800" dirty="0"/>
          </a:p>
        </p:txBody>
      </p:sp>
      <p:sp>
        <p:nvSpPr>
          <p:cNvPr id="9" name="Text 6"/>
          <p:cNvSpPr txBox="1"/>
          <p:nvPr/>
        </p:nvSpPr>
        <p:spPr>
          <a:xfrm>
            <a:off x="8641080" y="1938528"/>
            <a:ext cx="2834640" cy="320040"/>
          </a:xfrm>
          <a:prstGeom prst="rect">
            <a:avLst/>
          </a:prstGeom>
          <a:noFill/>
          <a:ln/>
        </p:spPr>
        <p:txBody>
          <a:bodyPr wrap="square" lIns="0" tIns="0" rIns="0" bIns="0" rtlCol="0" anchor="t"/>
          <a:lstStyle/>
          <a:p>
            <a:pPr marL="0" indent="0">
              <a:buNone/>
            </a:pPr>
            <a:r>
              <a:rPr lang="en-US" sz="1400" dirty="0">
                <a:solidFill>
                  <a:srgbClr val="D1D5DB"/>
                </a:solidFill>
                <a:latin typeface="Calibri" pitchFamily="34" charset="0"/>
                <a:ea typeface="Calibri" pitchFamily="34" charset="-122"/>
                <a:cs typeface="Calibri" pitchFamily="34" charset="-120"/>
              </a:rPr>
              <a:t>6–8 hours</a:t>
            </a:r>
            <a:endParaRPr lang="en-US" sz="1400" dirty="0"/>
          </a:p>
        </p:txBody>
      </p:sp>
      <p:sp>
        <p:nvSpPr>
          <p:cNvPr id="10" name="Shape 7"/>
          <p:cNvSpPr/>
          <p:nvPr/>
        </p:nvSpPr>
        <p:spPr>
          <a:xfrm>
            <a:off x="7406640" y="2651760"/>
            <a:ext cx="4206240" cy="1280160"/>
          </a:xfrm>
          <a:prstGeom prst="roundRect">
            <a:avLst>
              <a:gd name="adj" fmla="val 8571"/>
            </a:avLst>
          </a:prstGeom>
          <a:solidFill>
            <a:srgbClr val="2B2B36"/>
          </a:solidFill>
          <a:ln w="12700">
            <a:solidFill>
              <a:srgbClr val="2B2B36"/>
            </a:solidFill>
            <a:prstDash val="solid"/>
          </a:ln>
        </p:spPr>
      </p:sp>
      <p:sp>
        <p:nvSpPr>
          <p:cNvPr id="11" name="Shape 8"/>
          <p:cNvSpPr/>
          <p:nvPr/>
        </p:nvSpPr>
        <p:spPr>
          <a:xfrm>
            <a:off x="7680960" y="2926080"/>
            <a:ext cx="731520" cy="731520"/>
          </a:xfrm>
          <a:prstGeom prst="ellipse">
            <a:avLst/>
          </a:prstGeom>
          <a:solidFill>
            <a:srgbClr val="F2C811"/>
          </a:solidFill>
          <a:ln w="12700">
            <a:solidFill>
              <a:srgbClr val="F2C811"/>
            </a:solidFill>
            <a:prstDash val="solid"/>
          </a:ln>
        </p:spPr>
      </p:sp>
      <p:pic>
        <p:nvPicPr>
          <p:cNvPr id="12" name="Image 1" descr="preencoded.png"/>
          <p:cNvPicPr>
            <a:picLocks noChangeAspect="1"/>
          </p:cNvPicPr>
          <p:nvPr/>
        </p:nvPicPr>
        <p:blipFill>
          <a:blip r:embed="rId4"/>
          <a:stretch>
            <a:fillRect/>
          </a:stretch>
        </p:blipFill>
        <p:spPr>
          <a:xfrm>
            <a:off x="7871155" y="3116275"/>
            <a:ext cx="351130" cy="351130"/>
          </a:xfrm>
          <a:prstGeom prst="rect">
            <a:avLst/>
          </a:prstGeom>
        </p:spPr>
      </p:pic>
      <p:sp>
        <p:nvSpPr>
          <p:cNvPr id="13" name="Text 9"/>
          <p:cNvSpPr txBox="1"/>
          <p:nvPr/>
        </p:nvSpPr>
        <p:spPr>
          <a:xfrm>
            <a:off x="8641080" y="2834640"/>
            <a:ext cx="2834640" cy="274320"/>
          </a:xfrm>
          <a:prstGeom prst="rect">
            <a:avLst/>
          </a:prstGeom>
          <a:noFill/>
          <a:ln/>
        </p:spPr>
        <p:txBody>
          <a:bodyPr wrap="square" lIns="0" tIns="0" rIns="0" bIns="0" rtlCol="0" anchor="t"/>
          <a:lstStyle/>
          <a:p>
            <a:pPr marL="0" indent="0">
              <a:buNone/>
            </a:pPr>
            <a:r>
              <a:rPr lang="en-US" sz="1200" b="1" dirty="0">
                <a:solidFill>
                  <a:srgbClr val="F2C811"/>
                </a:solidFill>
                <a:latin typeface="Calibri" pitchFamily="34" charset="0"/>
                <a:ea typeface="Calibri" pitchFamily="34" charset="-122"/>
                <a:cs typeface="Calibri" pitchFamily="34" charset="-120"/>
              </a:rPr>
              <a:t>TIER 2</a:t>
            </a:r>
            <a:endParaRPr lang="en-US" sz="1200" dirty="0"/>
          </a:p>
        </p:txBody>
      </p:sp>
      <p:sp>
        <p:nvSpPr>
          <p:cNvPr id="14" name="Text 10"/>
          <p:cNvSpPr txBox="1"/>
          <p:nvPr/>
        </p:nvSpPr>
        <p:spPr>
          <a:xfrm>
            <a:off x="8641080" y="3108960"/>
            <a:ext cx="283464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Report creators</a:t>
            </a:r>
            <a:endParaRPr lang="en-US" sz="1800" dirty="0"/>
          </a:p>
        </p:txBody>
      </p:sp>
      <p:sp>
        <p:nvSpPr>
          <p:cNvPr id="15" name="Text 11"/>
          <p:cNvSpPr txBox="1"/>
          <p:nvPr/>
        </p:nvSpPr>
        <p:spPr>
          <a:xfrm>
            <a:off x="8641080" y="3493008"/>
            <a:ext cx="2834640" cy="320040"/>
          </a:xfrm>
          <a:prstGeom prst="rect">
            <a:avLst/>
          </a:prstGeom>
          <a:noFill/>
          <a:ln/>
        </p:spPr>
        <p:txBody>
          <a:bodyPr wrap="square" lIns="0" tIns="0" rIns="0" bIns="0" rtlCol="0" anchor="t"/>
          <a:lstStyle/>
          <a:p>
            <a:pPr marL="0" indent="0">
              <a:buNone/>
            </a:pPr>
            <a:r>
              <a:rPr lang="en-US" sz="1400" dirty="0">
                <a:solidFill>
                  <a:srgbClr val="D1D5DB"/>
                </a:solidFill>
                <a:latin typeface="Calibri" pitchFamily="34" charset="0"/>
                <a:ea typeface="Calibri" pitchFamily="34" charset="-122"/>
                <a:cs typeface="Calibri" pitchFamily="34" charset="-120"/>
              </a:rPr>
              <a:t>20–30 hours</a:t>
            </a:r>
            <a:endParaRPr lang="en-US" sz="1400" dirty="0"/>
          </a:p>
        </p:txBody>
      </p:sp>
      <p:sp>
        <p:nvSpPr>
          <p:cNvPr id="16" name="Shape 12"/>
          <p:cNvSpPr/>
          <p:nvPr/>
        </p:nvSpPr>
        <p:spPr>
          <a:xfrm>
            <a:off x="7406640" y="4206240"/>
            <a:ext cx="4206240" cy="1280160"/>
          </a:xfrm>
          <a:prstGeom prst="roundRect">
            <a:avLst>
              <a:gd name="adj" fmla="val 8571"/>
            </a:avLst>
          </a:prstGeom>
          <a:solidFill>
            <a:srgbClr val="2B2B36"/>
          </a:solidFill>
          <a:ln w="12700">
            <a:solidFill>
              <a:srgbClr val="2B2B36"/>
            </a:solidFill>
            <a:prstDash val="solid"/>
          </a:ln>
        </p:spPr>
      </p:sp>
      <p:sp>
        <p:nvSpPr>
          <p:cNvPr id="17" name="Shape 13"/>
          <p:cNvSpPr/>
          <p:nvPr/>
        </p:nvSpPr>
        <p:spPr>
          <a:xfrm>
            <a:off x="7680960" y="4480560"/>
            <a:ext cx="731520" cy="731520"/>
          </a:xfrm>
          <a:prstGeom prst="ellipse">
            <a:avLst/>
          </a:prstGeom>
          <a:solidFill>
            <a:srgbClr val="F2C811"/>
          </a:solidFill>
          <a:ln w="12700">
            <a:solidFill>
              <a:srgbClr val="F2C811"/>
            </a:solidFill>
            <a:prstDash val="solid"/>
          </a:ln>
        </p:spPr>
      </p:sp>
      <p:pic>
        <p:nvPicPr>
          <p:cNvPr id="18" name="Image 2" descr="preencoded.png"/>
          <p:cNvPicPr>
            <a:picLocks noChangeAspect="1"/>
          </p:cNvPicPr>
          <p:nvPr/>
        </p:nvPicPr>
        <p:blipFill>
          <a:blip r:embed="rId5"/>
          <a:stretch>
            <a:fillRect/>
          </a:stretch>
        </p:blipFill>
        <p:spPr>
          <a:xfrm>
            <a:off x="7871155" y="4670755"/>
            <a:ext cx="351130" cy="351130"/>
          </a:xfrm>
          <a:prstGeom prst="rect">
            <a:avLst/>
          </a:prstGeom>
        </p:spPr>
      </p:pic>
      <p:sp>
        <p:nvSpPr>
          <p:cNvPr id="19" name="Text 14"/>
          <p:cNvSpPr txBox="1"/>
          <p:nvPr/>
        </p:nvSpPr>
        <p:spPr>
          <a:xfrm>
            <a:off x="8641080" y="4389120"/>
            <a:ext cx="2834640" cy="274320"/>
          </a:xfrm>
          <a:prstGeom prst="rect">
            <a:avLst/>
          </a:prstGeom>
          <a:noFill/>
          <a:ln/>
        </p:spPr>
        <p:txBody>
          <a:bodyPr wrap="square" lIns="0" tIns="0" rIns="0" bIns="0" rtlCol="0" anchor="t"/>
          <a:lstStyle/>
          <a:p>
            <a:pPr marL="0" indent="0">
              <a:buNone/>
            </a:pPr>
            <a:r>
              <a:rPr lang="en-US" sz="1200" b="1" dirty="0">
                <a:solidFill>
                  <a:srgbClr val="F2C811"/>
                </a:solidFill>
                <a:latin typeface="Calibri" pitchFamily="34" charset="0"/>
                <a:ea typeface="Calibri" pitchFamily="34" charset="-122"/>
                <a:cs typeface="Calibri" pitchFamily="34" charset="-120"/>
              </a:rPr>
              <a:t>TIER 3</a:t>
            </a:r>
            <a:endParaRPr lang="en-US" sz="1200" dirty="0"/>
          </a:p>
        </p:txBody>
      </p:sp>
      <p:sp>
        <p:nvSpPr>
          <p:cNvPr id="20" name="Text 15"/>
          <p:cNvSpPr txBox="1"/>
          <p:nvPr/>
        </p:nvSpPr>
        <p:spPr>
          <a:xfrm>
            <a:off x="8641080" y="4663440"/>
            <a:ext cx="2834640" cy="365760"/>
          </a:xfrm>
          <a:prstGeom prst="rect">
            <a:avLst/>
          </a:prstGeom>
          <a:noFill/>
          <a:ln/>
        </p:spPr>
        <p:txBody>
          <a:bodyPr wrap="square" lIns="0" tIns="0" rIns="0" bIns="0" rtlCol="0" anchor="t"/>
          <a:lstStyle/>
          <a:p>
            <a:pPr marL="0" indent="0">
              <a:buNone/>
            </a:pPr>
            <a:r>
              <a:rPr lang="en-US" sz="1800" b="1" dirty="0">
                <a:solidFill>
                  <a:srgbClr val="FFFFFF"/>
                </a:solidFill>
                <a:latin typeface="Calibri" pitchFamily="34" charset="0"/>
                <a:ea typeface="Calibri" pitchFamily="34" charset="-122"/>
                <a:cs typeface="Calibri" pitchFamily="34" charset="-120"/>
              </a:rPr>
              <a:t>Data and model builders</a:t>
            </a:r>
            <a:endParaRPr lang="en-US" sz="1800" dirty="0"/>
          </a:p>
        </p:txBody>
      </p:sp>
      <p:sp>
        <p:nvSpPr>
          <p:cNvPr id="21" name="Text 16"/>
          <p:cNvSpPr txBox="1"/>
          <p:nvPr/>
        </p:nvSpPr>
        <p:spPr>
          <a:xfrm>
            <a:off x="8641080" y="5047488"/>
            <a:ext cx="2834640" cy="320040"/>
          </a:xfrm>
          <a:prstGeom prst="rect">
            <a:avLst/>
          </a:prstGeom>
          <a:noFill/>
          <a:ln/>
        </p:spPr>
        <p:txBody>
          <a:bodyPr wrap="square" lIns="0" tIns="0" rIns="0" bIns="0" rtlCol="0" anchor="t"/>
          <a:lstStyle/>
          <a:p>
            <a:pPr marL="0" indent="0">
              <a:buNone/>
            </a:pPr>
            <a:r>
              <a:rPr lang="en-US" sz="1400" dirty="0">
                <a:solidFill>
                  <a:srgbClr val="D1D5DB"/>
                </a:solidFill>
                <a:latin typeface="Calibri" pitchFamily="34" charset="0"/>
                <a:ea typeface="Calibri" pitchFamily="34" charset="-122"/>
                <a:cs typeface="Calibri" pitchFamily="34" charset="-120"/>
              </a:rPr>
              <a:t>60 hours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64240" cy="731520"/>
          </a:xfrm>
          <a:prstGeom prst="rect">
            <a:avLst/>
          </a:prstGeom>
          <a:noFill/>
          <a:ln/>
        </p:spPr>
        <p:txBody>
          <a:bodyPr wrap="square" lIns="0" tIns="0" rIns="0" bIns="0" rtlCol="0" anchor="t"/>
          <a:lstStyle/>
          <a:p>
            <a:pPr marL="0" indent="0">
              <a:buNone/>
            </a:pPr>
            <a:r>
              <a:rPr lang="en-US" sz="3600" b="1" dirty="0">
                <a:solidFill>
                  <a:srgbClr val="1E1E24"/>
                </a:solidFill>
                <a:latin typeface="Cambria" pitchFamily="34" charset="0"/>
                <a:ea typeface="Cambria" pitchFamily="34" charset="-122"/>
                <a:cs typeface="Cambria" pitchFamily="34" charset="-120"/>
              </a:rPr>
              <a:t>Does every employee need 60 hours?</a:t>
            </a:r>
            <a:endParaRPr lang="en-US" sz="3600" dirty="0"/>
          </a:p>
        </p:txBody>
      </p:sp>
      <p:sp>
        <p:nvSpPr>
          <p:cNvPr id="3" name="Text 1"/>
          <p:cNvSpPr txBox="1"/>
          <p:nvPr/>
        </p:nvSpPr>
        <p:spPr>
          <a:xfrm>
            <a:off x="548640" y="1280160"/>
            <a:ext cx="11064240" cy="457200"/>
          </a:xfrm>
          <a:prstGeom prst="rect">
            <a:avLst/>
          </a:prstGeom>
          <a:noFill/>
          <a:ln/>
        </p:spPr>
        <p:txBody>
          <a:bodyPr wrap="square" lIns="0" tIns="0" rIns="0" bIns="0" rtlCol="0" anchor="t"/>
          <a:lstStyle/>
          <a:p>
            <a:pPr marL="0" indent="0">
              <a:buNone/>
            </a:pPr>
            <a:r>
              <a:rPr lang="en-US" sz="2000" dirty="0">
                <a:solidFill>
                  <a:srgbClr val="6B7280"/>
                </a:solidFill>
                <a:latin typeface="Calibri" pitchFamily="34" charset="0"/>
                <a:ea typeface="Calibri" pitchFamily="34" charset="-122"/>
                <a:cs typeface="Calibri" pitchFamily="34" charset="-120"/>
              </a:rPr>
              <a:t>The real question is whether every employee needs that depth.</a:t>
            </a:r>
            <a:endParaRPr lang="en-US" sz="2000" dirty="0"/>
          </a:p>
        </p:txBody>
      </p:sp>
      <p:sp>
        <p:nvSpPr>
          <p:cNvPr id="4" name="Shape 2"/>
          <p:cNvSpPr/>
          <p:nvPr/>
        </p:nvSpPr>
        <p:spPr>
          <a:xfrm>
            <a:off x="548640" y="2194560"/>
            <a:ext cx="3840480" cy="3840480"/>
          </a:xfrm>
          <a:prstGeom prst="roundRect">
            <a:avLst>
              <a:gd name="adj" fmla="val 2857"/>
            </a:avLst>
          </a:prstGeom>
          <a:solidFill>
            <a:srgbClr val="F3F4F6"/>
          </a:solidFill>
          <a:ln w="12700">
            <a:solidFill>
              <a:srgbClr val="F3F4F6"/>
            </a:solidFill>
            <a:prstDash val="solid"/>
          </a:ln>
        </p:spPr>
      </p:sp>
      <p:sp>
        <p:nvSpPr>
          <p:cNvPr id="5" name="Text 3"/>
          <p:cNvSpPr txBox="1"/>
          <p:nvPr/>
        </p:nvSpPr>
        <p:spPr>
          <a:xfrm>
            <a:off x="548640" y="2468880"/>
            <a:ext cx="3840480" cy="1828800"/>
          </a:xfrm>
          <a:prstGeom prst="rect">
            <a:avLst/>
          </a:prstGeom>
          <a:noFill/>
          <a:ln/>
        </p:spPr>
        <p:txBody>
          <a:bodyPr wrap="square" lIns="0" tIns="0" rIns="0" bIns="0" rtlCol="0" anchor="ctr"/>
          <a:lstStyle/>
          <a:p>
            <a:pPr marL="0" indent="0" algn="ctr">
              <a:buNone/>
            </a:pPr>
            <a:r>
              <a:rPr lang="en-US" sz="12000" b="1" dirty="0">
                <a:solidFill>
                  <a:srgbClr val="1E1E24"/>
                </a:solidFill>
                <a:latin typeface="Cambria" pitchFamily="34" charset="0"/>
                <a:ea typeface="Cambria" pitchFamily="34" charset="-122"/>
                <a:cs typeface="Cambria" pitchFamily="34" charset="-120"/>
              </a:rPr>
              <a:t>60</a:t>
            </a:r>
            <a:endParaRPr lang="en-US" sz="12000" dirty="0"/>
          </a:p>
        </p:txBody>
      </p:sp>
      <p:sp>
        <p:nvSpPr>
          <p:cNvPr id="6" name="Text 4"/>
          <p:cNvSpPr txBox="1"/>
          <p:nvPr/>
        </p:nvSpPr>
        <p:spPr>
          <a:xfrm>
            <a:off x="548640" y="4343400"/>
            <a:ext cx="3840480" cy="548640"/>
          </a:xfrm>
          <a:prstGeom prst="rect">
            <a:avLst/>
          </a:prstGeom>
          <a:noFill/>
          <a:ln/>
        </p:spPr>
        <p:txBody>
          <a:bodyPr wrap="square" lIns="0" tIns="0" rIns="0" bIns="0" rtlCol="0" anchor="t"/>
          <a:lstStyle/>
          <a:p>
            <a:pPr marL="0" indent="0" algn="ctr">
              <a:buNone/>
            </a:pPr>
            <a:r>
              <a:rPr lang="en-US" sz="2800" dirty="0">
                <a:solidFill>
                  <a:srgbClr val="1E1E24"/>
                </a:solidFill>
                <a:latin typeface="Calibri" pitchFamily="34" charset="0"/>
                <a:ea typeface="Calibri" pitchFamily="34" charset="-122"/>
                <a:cs typeface="Calibri" pitchFamily="34" charset="-120"/>
              </a:rPr>
              <a:t>hours</a:t>
            </a:r>
            <a:endParaRPr lang="en-US" sz="2800" dirty="0"/>
          </a:p>
        </p:txBody>
      </p:sp>
      <p:sp>
        <p:nvSpPr>
          <p:cNvPr id="7" name="Text 5"/>
          <p:cNvSpPr txBox="1"/>
          <p:nvPr/>
        </p:nvSpPr>
        <p:spPr>
          <a:xfrm>
            <a:off x="548640" y="5029200"/>
            <a:ext cx="3840480" cy="365760"/>
          </a:xfrm>
          <a:prstGeom prst="rect">
            <a:avLst/>
          </a:prstGeom>
          <a:noFill/>
          <a:ln/>
        </p:spPr>
        <p:txBody>
          <a:bodyPr wrap="square" lIns="0" tIns="0" rIns="0" bIns="0" rtlCol="0" anchor="t"/>
          <a:lstStyle/>
          <a:p>
            <a:pPr marL="0" indent="0" algn="ctr">
              <a:buNone/>
            </a:pPr>
            <a:r>
              <a:rPr lang="en-US" sz="1600" dirty="0">
                <a:solidFill>
                  <a:srgbClr val="6B7280"/>
                </a:solidFill>
                <a:latin typeface="Calibri" pitchFamily="34" charset="0"/>
                <a:ea typeface="Calibri" pitchFamily="34" charset="-122"/>
                <a:cs typeface="Calibri" pitchFamily="34" charset="-120"/>
              </a:rPr>
              <a:t>The full training plan</a:t>
            </a:r>
            <a:endParaRPr lang="en-US" sz="1600" dirty="0"/>
          </a:p>
        </p:txBody>
      </p:sp>
      <p:sp>
        <p:nvSpPr>
          <p:cNvPr id="8" name="Text 6"/>
          <p:cNvSpPr txBox="1"/>
          <p:nvPr/>
        </p:nvSpPr>
        <p:spPr>
          <a:xfrm>
            <a:off x="4937760" y="2194560"/>
            <a:ext cx="6675120" cy="457200"/>
          </a:xfrm>
          <a:prstGeom prst="rect">
            <a:avLst/>
          </a:prstGeom>
          <a:noFill/>
          <a:ln/>
        </p:spPr>
        <p:txBody>
          <a:bodyPr wrap="square" lIns="0" tIns="0" rIns="0" bIns="0" rtlCol="0" anchor="t"/>
          <a:lstStyle/>
          <a:p>
            <a:pPr marL="0" indent="0">
              <a:buNone/>
            </a:pPr>
            <a:r>
              <a:rPr lang="en-US" sz="2000" b="1" dirty="0">
                <a:solidFill>
                  <a:srgbClr val="1F2937"/>
                </a:solidFill>
                <a:latin typeface="Calibri" pitchFamily="34" charset="0"/>
                <a:ea typeface="Calibri" pitchFamily="34" charset="-122"/>
                <a:cs typeface="Calibri" pitchFamily="34" charset="-120"/>
              </a:rPr>
              <a:t>Most people in a company use Power BI in one of three ways.</a:t>
            </a:r>
            <a:endParaRPr lang="en-US" sz="2000" dirty="0"/>
          </a:p>
        </p:txBody>
      </p:sp>
      <p:sp>
        <p:nvSpPr>
          <p:cNvPr id="9" name="Shape 7"/>
          <p:cNvSpPr/>
          <p:nvPr/>
        </p:nvSpPr>
        <p:spPr>
          <a:xfrm>
            <a:off x="4937760" y="2926080"/>
            <a:ext cx="6675120" cy="914400"/>
          </a:xfrm>
          <a:prstGeom prst="roundRect">
            <a:avLst>
              <a:gd name="adj" fmla="val 10000"/>
            </a:avLst>
          </a:prstGeom>
          <a:solidFill>
            <a:srgbClr val="F3F4F6"/>
          </a:solidFill>
          <a:ln w="12700">
            <a:solidFill>
              <a:srgbClr val="F3F4F6"/>
            </a:solidFill>
            <a:prstDash val="solid"/>
          </a:ln>
        </p:spPr>
      </p:sp>
      <p:sp>
        <p:nvSpPr>
          <p:cNvPr id="10" name="Shape 8"/>
          <p:cNvSpPr/>
          <p:nvPr/>
        </p:nvSpPr>
        <p:spPr>
          <a:xfrm>
            <a:off x="5166360" y="3054096"/>
            <a:ext cx="658368" cy="658368"/>
          </a:xfrm>
          <a:prstGeom prst="ellipse">
            <a:avLst/>
          </a:prstGeom>
          <a:solidFill>
            <a:srgbClr val="F2C811"/>
          </a:solidFill>
          <a:ln w="12700">
            <a:solidFill>
              <a:srgbClr val="F2C811"/>
            </a:solidFill>
            <a:prstDash val="solid"/>
          </a:ln>
        </p:spPr>
      </p:sp>
      <p:pic>
        <p:nvPicPr>
          <p:cNvPr id="11" name="Image 0" descr="preencoded.png"/>
          <p:cNvPicPr>
            <a:picLocks noChangeAspect="1"/>
          </p:cNvPicPr>
          <p:nvPr/>
        </p:nvPicPr>
        <p:blipFill>
          <a:blip r:embed="rId3"/>
          <a:stretch>
            <a:fillRect/>
          </a:stretch>
        </p:blipFill>
        <p:spPr>
          <a:xfrm>
            <a:off x="5337536" y="3225272"/>
            <a:ext cx="316017" cy="316017"/>
          </a:xfrm>
          <a:prstGeom prst="rect">
            <a:avLst/>
          </a:prstGeom>
        </p:spPr>
      </p:pic>
      <p:sp>
        <p:nvSpPr>
          <p:cNvPr id="12" name="Text 9"/>
          <p:cNvSpPr txBox="1"/>
          <p:nvPr/>
        </p:nvSpPr>
        <p:spPr>
          <a:xfrm>
            <a:off x="6035040" y="3081528"/>
            <a:ext cx="5394960" cy="320040"/>
          </a:xfrm>
          <a:prstGeom prst="rect">
            <a:avLst/>
          </a:prstGeom>
          <a:noFill/>
          <a:ln/>
        </p:spPr>
        <p:txBody>
          <a:bodyPr wrap="square" lIns="0" tIns="0" rIns="0" bIns="0" rtlCol="0" anchor="t"/>
          <a:lstStyle/>
          <a:p>
            <a:pPr marL="0" indent="0">
              <a:buNone/>
            </a:pPr>
            <a:r>
              <a:rPr lang="en-US" sz="1800" b="1" dirty="0">
                <a:solidFill>
                  <a:srgbClr val="1E1E24"/>
                </a:solidFill>
                <a:latin typeface="Calibri" pitchFamily="34" charset="0"/>
                <a:ea typeface="Calibri" pitchFamily="34" charset="-122"/>
                <a:cs typeface="Calibri" pitchFamily="34" charset="-120"/>
              </a:rPr>
              <a:t>They read dashboards</a:t>
            </a:r>
            <a:endParaRPr lang="en-US" sz="1800" dirty="0"/>
          </a:p>
        </p:txBody>
      </p:sp>
      <p:sp>
        <p:nvSpPr>
          <p:cNvPr id="13" name="Text 10"/>
          <p:cNvSpPr txBox="1"/>
          <p:nvPr/>
        </p:nvSpPr>
        <p:spPr>
          <a:xfrm>
            <a:off x="6035040" y="3429000"/>
            <a:ext cx="5394960" cy="274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Managers and business users</a:t>
            </a:r>
            <a:endParaRPr lang="en-US" sz="1400" dirty="0"/>
          </a:p>
        </p:txBody>
      </p:sp>
      <p:sp>
        <p:nvSpPr>
          <p:cNvPr id="14" name="Shape 11"/>
          <p:cNvSpPr/>
          <p:nvPr/>
        </p:nvSpPr>
        <p:spPr>
          <a:xfrm>
            <a:off x="4937760" y="4023360"/>
            <a:ext cx="6675120" cy="914400"/>
          </a:xfrm>
          <a:prstGeom prst="roundRect">
            <a:avLst>
              <a:gd name="adj" fmla="val 10000"/>
            </a:avLst>
          </a:prstGeom>
          <a:solidFill>
            <a:srgbClr val="F3F4F6"/>
          </a:solidFill>
          <a:ln w="12700">
            <a:solidFill>
              <a:srgbClr val="F3F4F6"/>
            </a:solidFill>
            <a:prstDash val="solid"/>
          </a:ln>
        </p:spPr>
      </p:sp>
      <p:sp>
        <p:nvSpPr>
          <p:cNvPr id="15" name="Shape 12"/>
          <p:cNvSpPr/>
          <p:nvPr/>
        </p:nvSpPr>
        <p:spPr>
          <a:xfrm>
            <a:off x="5166360" y="4151376"/>
            <a:ext cx="658368" cy="658368"/>
          </a:xfrm>
          <a:prstGeom prst="ellipse">
            <a:avLst/>
          </a:prstGeom>
          <a:solidFill>
            <a:srgbClr val="F2C811"/>
          </a:solidFill>
          <a:ln w="12700">
            <a:solidFill>
              <a:srgbClr val="F2C811"/>
            </a:solidFill>
            <a:prstDash val="solid"/>
          </a:ln>
        </p:spPr>
      </p:sp>
      <p:pic>
        <p:nvPicPr>
          <p:cNvPr id="16" name="Image 1" descr="preencoded.png"/>
          <p:cNvPicPr>
            <a:picLocks noChangeAspect="1"/>
          </p:cNvPicPr>
          <p:nvPr/>
        </p:nvPicPr>
        <p:blipFill>
          <a:blip r:embed="rId4"/>
          <a:stretch>
            <a:fillRect/>
          </a:stretch>
        </p:blipFill>
        <p:spPr>
          <a:xfrm>
            <a:off x="5337536" y="4322552"/>
            <a:ext cx="316017" cy="316017"/>
          </a:xfrm>
          <a:prstGeom prst="rect">
            <a:avLst/>
          </a:prstGeom>
        </p:spPr>
      </p:pic>
      <p:sp>
        <p:nvSpPr>
          <p:cNvPr id="17" name="Text 13"/>
          <p:cNvSpPr txBox="1"/>
          <p:nvPr/>
        </p:nvSpPr>
        <p:spPr>
          <a:xfrm>
            <a:off x="6035040" y="4178808"/>
            <a:ext cx="5394960" cy="320040"/>
          </a:xfrm>
          <a:prstGeom prst="rect">
            <a:avLst/>
          </a:prstGeom>
          <a:noFill/>
          <a:ln/>
        </p:spPr>
        <p:txBody>
          <a:bodyPr wrap="square" lIns="0" tIns="0" rIns="0" bIns="0" rtlCol="0" anchor="t"/>
          <a:lstStyle/>
          <a:p>
            <a:pPr marL="0" indent="0">
              <a:buNone/>
            </a:pPr>
            <a:r>
              <a:rPr lang="en-US" sz="1800" b="1" dirty="0">
                <a:solidFill>
                  <a:srgbClr val="1E1E24"/>
                </a:solidFill>
                <a:latin typeface="Calibri" pitchFamily="34" charset="0"/>
                <a:ea typeface="Calibri" pitchFamily="34" charset="-122"/>
                <a:cs typeface="Calibri" pitchFamily="34" charset="-120"/>
              </a:rPr>
              <a:t>They build reports</a:t>
            </a:r>
            <a:endParaRPr lang="en-US" sz="1800" dirty="0"/>
          </a:p>
        </p:txBody>
      </p:sp>
      <p:sp>
        <p:nvSpPr>
          <p:cNvPr id="18" name="Text 14"/>
          <p:cNvSpPr txBox="1"/>
          <p:nvPr/>
        </p:nvSpPr>
        <p:spPr>
          <a:xfrm>
            <a:off x="6035040" y="4526280"/>
            <a:ext cx="5394960" cy="274320"/>
          </a:xfrm>
          <a:prstGeom prst="rect">
            <a:avLst/>
          </a:prstGeom>
          <a:noFill/>
          <a:ln/>
        </p:spPr>
        <p:txBody>
          <a:bodyPr wrap="square" lIns="0" tIns="0" rIns="0" bIns="0" rtlCol="0" anchor="t"/>
          <a:lstStyle/>
          <a:p>
            <a:pPr marL="0" indent="0">
              <a:buNone/>
            </a:pPr>
            <a:r>
              <a:rPr lang="en-US" sz="1400" dirty="0">
                <a:solidFill>
                  <a:srgbClr val="6B7280"/>
                </a:solidFill>
                <a:latin typeface="Calibri" pitchFamily="34" charset="0"/>
                <a:ea typeface="Calibri" pitchFamily="34" charset="-122"/>
                <a:cs typeface="Calibri" pitchFamily="34" charset="-120"/>
              </a:rPr>
              <a:t>Analysts and power users working from existing datasets</a:t>
            </a:r>
            <a:endParaRPr lang="en-US" sz="1400" dirty="0"/>
          </a:p>
        </p:txBody>
      </p:sp>
      <p:sp>
        <p:nvSpPr>
          <p:cNvPr id="19" name="Shape 15"/>
          <p:cNvSpPr/>
          <p:nvPr/>
        </p:nvSpPr>
        <p:spPr>
          <a:xfrm>
            <a:off x="4937760" y="5120640"/>
            <a:ext cx="6675120" cy="914400"/>
          </a:xfrm>
          <a:prstGeom prst="roundRect">
            <a:avLst>
              <a:gd name="adj" fmla="val 10000"/>
            </a:avLst>
          </a:prstGeom>
          <a:solidFill>
            <a:srgbClr val="F2C811"/>
          </a:solidFill>
          <a:ln w="12700">
            <a:solidFill>
              <a:srgbClr val="F2C811"/>
            </a:solidFill>
            <a:prstDash val="solid"/>
          </a:ln>
        </p:spPr>
      </p:sp>
      <p:sp>
        <p:nvSpPr>
          <p:cNvPr id="20" name="Shape 16"/>
          <p:cNvSpPr/>
          <p:nvPr/>
        </p:nvSpPr>
        <p:spPr>
          <a:xfrm>
            <a:off x="5166360" y="5248656"/>
            <a:ext cx="658368" cy="658368"/>
          </a:xfrm>
          <a:prstGeom prst="ellipse">
            <a:avLst/>
          </a:prstGeom>
          <a:solidFill>
            <a:srgbClr val="FFFFFF"/>
          </a:solidFill>
          <a:ln w="12700">
            <a:solidFill>
              <a:srgbClr val="FFFFFF"/>
            </a:solidFill>
            <a:prstDash val="solid"/>
          </a:ln>
        </p:spPr>
      </p:sp>
      <p:pic>
        <p:nvPicPr>
          <p:cNvPr id="21" name="Image 2" descr="preencoded.png"/>
          <p:cNvPicPr>
            <a:picLocks noChangeAspect="1"/>
          </p:cNvPicPr>
          <p:nvPr/>
        </p:nvPicPr>
        <p:blipFill>
          <a:blip r:embed="rId5"/>
          <a:stretch>
            <a:fillRect/>
          </a:stretch>
        </p:blipFill>
        <p:spPr>
          <a:xfrm>
            <a:off x="5337536" y="5419832"/>
            <a:ext cx="316017" cy="316017"/>
          </a:xfrm>
          <a:prstGeom prst="rect">
            <a:avLst/>
          </a:prstGeom>
        </p:spPr>
      </p:pic>
      <p:sp>
        <p:nvSpPr>
          <p:cNvPr id="22" name="Text 17"/>
          <p:cNvSpPr txBox="1"/>
          <p:nvPr/>
        </p:nvSpPr>
        <p:spPr>
          <a:xfrm>
            <a:off x="6035040" y="5276088"/>
            <a:ext cx="5394960" cy="320040"/>
          </a:xfrm>
          <a:prstGeom prst="rect">
            <a:avLst/>
          </a:prstGeom>
          <a:noFill/>
          <a:ln/>
        </p:spPr>
        <p:txBody>
          <a:bodyPr wrap="square" lIns="0" tIns="0" rIns="0" bIns="0" rtlCol="0" anchor="t"/>
          <a:lstStyle/>
          <a:p>
            <a:pPr marL="0" indent="0">
              <a:buNone/>
            </a:pPr>
            <a:r>
              <a:rPr lang="en-US" sz="1800" b="1" dirty="0">
                <a:solidFill>
                  <a:srgbClr val="1E1E24"/>
                </a:solidFill>
                <a:latin typeface="Calibri" pitchFamily="34" charset="0"/>
                <a:ea typeface="Calibri" pitchFamily="34" charset="-122"/>
                <a:cs typeface="Calibri" pitchFamily="34" charset="-120"/>
              </a:rPr>
              <a:t>They build and maintain datasets</a:t>
            </a:r>
            <a:endParaRPr lang="en-US" sz="1800" dirty="0"/>
          </a:p>
        </p:txBody>
      </p:sp>
      <p:sp>
        <p:nvSpPr>
          <p:cNvPr id="23" name="Text 18"/>
          <p:cNvSpPr txBox="1"/>
          <p:nvPr/>
        </p:nvSpPr>
        <p:spPr>
          <a:xfrm>
            <a:off x="6035040" y="5623560"/>
            <a:ext cx="5394960" cy="274320"/>
          </a:xfrm>
          <a:prstGeom prst="rect">
            <a:avLst/>
          </a:prstGeom>
          <a:noFill/>
          <a:ln/>
        </p:spPr>
        <p:txBody>
          <a:bodyPr wrap="square" lIns="0" tIns="0" rIns="0" bIns="0" rtlCol="0" anchor="t"/>
          <a:lstStyle/>
          <a:p>
            <a:pPr marL="0" indent="0">
              <a:buNone/>
            </a:pPr>
            <a:r>
              <a:rPr lang="en-US" sz="1400" dirty="0">
                <a:solidFill>
                  <a:srgbClr val="1E1E24"/>
                </a:solidFill>
                <a:latin typeface="Calibri" pitchFamily="34" charset="0"/>
                <a:ea typeface="Calibri" pitchFamily="34" charset="-122"/>
                <a:cs typeface="Calibri" pitchFamily="34" charset="-120"/>
              </a:rPr>
              <a:t>BI developers and reporting analysts</a:t>
            </a:r>
            <a:endParaRPr lang="en-US" sz="1400" dirty="0"/>
          </a:p>
        </p:txBody>
      </p:sp>
      <p:sp>
        <p:nvSpPr>
          <p:cNvPr id="24" name="Text 19"/>
          <p:cNvSpPr txBox="1"/>
          <p:nvPr/>
        </p:nvSpPr>
        <p:spPr>
          <a:xfrm>
            <a:off x="4937760" y="6263640"/>
            <a:ext cx="6675120" cy="320040"/>
          </a:xfrm>
          <a:prstGeom prst="rect">
            <a:avLst/>
          </a:prstGeom>
          <a:noFill/>
          <a:ln/>
        </p:spPr>
        <p:txBody>
          <a:bodyPr wrap="square" lIns="0" tIns="0" rIns="0" bIns="0" rtlCol="0" anchor="t"/>
          <a:lstStyle/>
          <a:p>
            <a:pPr marL="0" indent="0">
              <a:buNone/>
            </a:pPr>
            <a:r>
              <a:rPr lang="en-US" sz="1400" i="1" dirty="0">
                <a:solidFill>
                  <a:srgbClr val="6B7280"/>
                </a:solidFill>
                <a:latin typeface="Calibri" pitchFamily="34" charset="0"/>
                <a:ea typeface="Calibri" pitchFamily="34" charset="-122"/>
                <a:cs typeface="Calibri" pitchFamily="34" charset="-120"/>
              </a:rPr>
              <a:t>60 hours only makes sense for the last group.</a:t>
            </a:r>
            <a:endParaRPr lang="en-US" sz="1400" dirty="0"/>
          </a:p>
        </p:txBody>
      </p:sp>
      <p:graphicFrame>
        <p:nvGraphicFramePr>
          <p:cNvPr id="26" name="Object 25">
            <a:extLst>
              <a:ext uri="{FF2B5EF4-FFF2-40B4-BE49-F238E27FC236}">
                <a16:creationId xmlns:a16="http://schemas.microsoft.com/office/drawing/2014/main" id="{F512B190-7816-FFE8-90F2-4096486B72D6}"/>
              </a:ext>
            </a:extLst>
          </p:cNvPr>
          <p:cNvGraphicFramePr>
            <a:graphicFrameLocks noChangeAspect="1"/>
          </p:cNvGraphicFramePr>
          <p:nvPr>
            <p:extLst>
              <p:ext uri="{D42A27DB-BD31-4B8C-83A1-F6EECF244321}">
                <p14:modId xmlns:p14="http://schemas.microsoft.com/office/powerpoint/2010/main" val="2309431123"/>
              </p:ext>
            </p:extLst>
          </p:nvPr>
        </p:nvGraphicFramePr>
        <p:xfrm>
          <a:off x="10080171" y="746774"/>
          <a:ext cx="914400" cy="792163"/>
        </p:xfrm>
        <a:graphic>
          <a:graphicData uri="http://schemas.openxmlformats.org/presentationml/2006/ole">
            <mc:AlternateContent xmlns:mc="http://schemas.openxmlformats.org/markup-compatibility/2006">
              <mc:Choice xmlns:v="urn:schemas-microsoft-com:vml" Requires="v">
                <p:oleObj name="Worksheet" showAsIcon="1" r:id="rId6" imgW="914400" imgH="792685" progId="Excel.Sheet.12">
                  <p:link updateAutomatic="1"/>
                </p:oleObj>
              </mc:Choice>
              <mc:Fallback>
                <p:oleObj name="Worksheet" showAsIcon="1" r:id="rId6" imgW="914400" imgH="792685" progId="Excel.Sheet.12">
                  <p:link updateAutomatic="1"/>
                  <p:pic>
                    <p:nvPicPr>
                      <p:cNvPr id="26" name="Object 25">
                        <a:extLst>
                          <a:ext uri="{FF2B5EF4-FFF2-40B4-BE49-F238E27FC236}">
                            <a16:creationId xmlns:a16="http://schemas.microsoft.com/office/drawing/2014/main" id="{F512B190-7816-FFE8-90F2-4096486B72D6}"/>
                          </a:ext>
                        </a:extLst>
                      </p:cNvPr>
                      <p:cNvPicPr/>
                      <p:nvPr/>
                    </p:nvPicPr>
                    <p:blipFill>
                      <a:blip r:embed="rId7"/>
                      <a:stretch>
                        <a:fillRect/>
                      </a:stretch>
                    </p:blipFill>
                    <p:spPr>
                      <a:xfrm>
                        <a:off x="10080171" y="746774"/>
                        <a:ext cx="914400" cy="792163"/>
                      </a:xfrm>
                      <a:prstGeom prst="rect">
                        <a:avLst/>
                      </a:prstGeom>
                    </p:spPr>
                  </p:pic>
                </p:oleObj>
              </mc:Fallback>
            </mc:AlternateContent>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3F4F6"/>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64240" cy="731520"/>
          </a:xfrm>
          <a:prstGeom prst="rect">
            <a:avLst/>
          </a:prstGeom>
          <a:noFill/>
          <a:ln/>
        </p:spPr>
        <p:txBody>
          <a:bodyPr wrap="square" lIns="0" tIns="0" rIns="0" bIns="0" rtlCol="0" anchor="t"/>
          <a:lstStyle/>
          <a:p>
            <a:pPr marL="0" indent="0">
              <a:buNone/>
            </a:pPr>
            <a:r>
              <a:rPr lang="en-US" sz="3600" b="1" dirty="0">
                <a:solidFill>
                  <a:srgbClr val="1E1E24"/>
                </a:solidFill>
                <a:latin typeface="Cambria" pitchFamily="34" charset="0"/>
                <a:ea typeface="Cambria" pitchFamily="34" charset="-122"/>
                <a:cs typeface="Cambria" pitchFamily="34" charset="-120"/>
              </a:rPr>
              <a:t>Three tiers, three depths</a:t>
            </a:r>
            <a:endParaRPr lang="en-US" sz="3600" dirty="0"/>
          </a:p>
        </p:txBody>
      </p:sp>
      <p:sp>
        <p:nvSpPr>
          <p:cNvPr id="3" name="Shape 1"/>
          <p:cNvSpPr/>
          <p:nvPr/>
        </p:nvSpPr>
        <p:spPr>
          <a:xfrm>
            <a:off x="548640" y="1463040"/>
            <a:ext cx="3429000" cy="484632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4" name="Shape 2"/>
          <p:cNvSpPr/>
          <p:nvPr/>
        </p:nvSpPr>
        <p:spPr>
          <a:xfrm>
            <a:off x="914400" y="1828800"/>
            <a:ext cx="822960" cy="822960"/>
          </a:xfrm>
          <a:prstGeom prst="ellipse">
            <a:avLst/>
          </a:prstGeom>
          <a:solidFill>
            <a:srgbClr val="F2C811"/>
          </a:solidFill>
          <a:ln w="12700">
            <a:solidFill>
              <a:srgbClr val="F2C811"/>
            </a:solidFill>
            <a:prstDash val="solid"/>
          </a:ln>
        </p:spPr>
      </p:sp>
      <p:pic>
        <p:nvPicPr>
          <p:cNvPr id="5" name="Image 0" descr="preencoded.png"/>
          <p:cNvPicPr>
            <a:picLocks noChangeAspect="1"/>
          </p:cNvPicPr>
          <p:nvPr/>
        </p:nvPicPr>
        <p:blipFill>
          <a:blip r:embed="rId3"/>
          <a:stretch>
            <a:fillRect/>
          </a:stretch>
        </p:blipFill>
        <p:spPr>
          <a:xfrm>
            <a:off x="1128370" y="2042770"/>
            <a:ext cx="395021" cy="395021"/>
          </a:xfrm>
          <a:prstGeom prst="rect">
            <a:avLst/>
          </a:prstGeom>
        </p:spPr>
      </p:pic>
      <p:sp>
        <p:nvSpPr>
          <p:cNvPr id="6" name="Text 3"/>
          <p:cNvSpPr txBox="1"/>
          <p:nvPr/>
        </p:nvSpPr>
        <p:spPr>
          <a:xfrm>
            <a:off x="914400" y="2880360"/>
            <a:ext cx="2743200" cy="274320"/>
          </a:xfrm>
          <a:prstGeom prst="rect">
            <a:avLst/>
          </a:prstGeom>
          <a:noFill/>
          <a:ln/>
        </p:spPr>
        <p:txBody>
          <a:bodyPr wrap="square" lIns="0" tIns="0" rIns="0" bIns="0" rtlCol="0" anchor="t"/>
          <a:lstStyle/>
          <a:p>
            <a:pPr marL="0" indent="0">
              <a:buNone/>
            </a:pPr>
            <a:r>
              <a:rPr lang="en-US" sz="1200" b="1" dirty="0">
                <a:solidFill>
                  <a:srgbClr val="6B7280"/>
                </a:solidFill>
                <a:latin typeface="Calibri" pitchFamily="34" charset="0"/>
                <a:ea typeface="Calibri" pitchFamily="34" charset="-122"/>
                <a:cs typeface="Calibri" pitchFamily="34" charset="-120"/>
              </a:rPr>
              <a:t>TIER 1</a:t>
            </a:r>
            <a:endParaRPr lang="en-US" sz="1200" dirty="0"/>
          </a:p>
        </p:txBody>
      </p:sp>
      <p:sp>
        <p:nvSpPr>
          <p:cNvPr id="7" name="Text 4"/>
          <p:cNvSpPr txBox="1"/>
          <p:nvPr/>
        </p:nvSpPr>
        <p:spPr>
          <a:xfrm>
            <a:off x="914400" y="3154680"/>
            <a:ext cx="2743200" cy="822960"/>
          </a:xfrm>
          <a:prstGeom prst="rect">
            <a:avLst/>
          </a:prstGeom>
          <a:noFill/>
          <a:ln/>
        </p:spPr>
        <p:txBody>
          <a:bodyPr wrap="square" lIns="0" tIns="0" rIns="0" bIns="0" rtlCol="0" anchor="t"/>
          <a:lstStyle/>
          <a:p>
            <a:pPr marL="0" indent="0">
              <a:buNone/>
            </a:pPr>
            <a:r>
              <a:rPr lang="en-US" sz="2400" b="1" dirty="0">
                <a:solidFill>
                  <a:srgbClr val="1E1E24"/>
                </a:solidFill>
                <a:latin typeface="Cambria" pitchFamily="34" charset="0"/>
                <a:ea typeface="Cambria" pitchFamily="34" charset="-122"/>
                <a:cs typeface="Cambria" pitchFamily="34" charset="-120"/>
              </a:rPr>
              <a:t>Report consumers</a:t>
            </a:r>
            <a:endParaRPr lang="en-US" sz="2400" dirty="0"/>
          </a:p>
        </p:txBody>
      </p:sp>
      <p:sp>
        <p:nvSpPr>
          <p:cNvPr id="8" name="Text 5"/>
          <p:cNvSpPr txBox="1"/>
          <p:nvPr/>
        </p:nvSpPr>
        <p:spPr>
          <a:xfrm>
            <a:off x="914400" y="4023360"/>
            <a:ext cx="2743200" cy="777240"/>
          </a:xfrm>
          <a:prstGeom prst="rect">
            <a:avLst/>
          </a:prstGeom>
          <a:noFill/>
          <a:ln/>
        </p:spPr>
        <p:txBody>
          <a:bodyPr wrap="square" lIns="0" tIns="0" rIns="0" bIns="0" rtlCol="0" anchor="ctr"/>
          <a:lstStyle/>
          <a:p>
            <a:pPr marL="0" indent="0">
              <a:buNone/>
            </a:pPr>
            <a:r>
              <a:rPr lang="en-US" sz="5400" b="1" dirty="0">
                <a:solidFill>
                  <a:srgbClr val="1E1E24"/>
                </a:solidFill>
                <a:latin typeface="Cambria" pitchFamily="34" charset="0"/>
                <a:ea typeface="Cambria" pitchFamily="34" charset="-122"/>
                <a:cs typeface="Cambria" pitchFamily="34" charset="-120"/>
              </a:rPr>
              <a:t>6–8</a:t>
            </a:r>
            <a:endParaRPr lang="en-US" sz="5400" dirty="0"/>
          </a:p>
        </p:txBody>
      </p:sp>
      <p:sp>
        <p:nvSpPr>
          <p:cNvPr id="9" name="Text 6"/>
          <p:cNvSpPr txBox="1"/>
          <p:nvPr/>
        </p:nvSpPr>
        <p:spPr>
          <a:xfrm>
            <a:off x="914400" y="4800600"/>
            <a:ext cx="2743200" cy="320040"/>
          </a:xfrm>
          <a:prstGeom prst="rect">
            <a:avLst/>
          </a:prstGeom>
          <a:noFill/>
          <a:ln/>
        </p:spPr>
        <p:txBody>
          <a:bodyPr wrap="square" lIns="0" tIns="0" rIns="0" bIns="0" rtlCol="0" anchor="t"/>
          <a:lstStyle/>
          <a:p>
            <a:pPr marL="0" indent="0">
              <a:buNone/>
            </a:pPr>
            <a:r>
              <a:rPr lang="en-US" sz="1600" dirty="0">
                <a:solidFill>
                  <a:srgbClr val="6B7280"/>
                </a:solidFill>
                <a:latin typeface="Calibri" pitchFamily="34" charset="0"/>
                <a:ea typeface="Calibri" pitchFamily="34" charset="-122"/>
                <a:cs typeface="Calibri" pitchFamily="34" charset="-120"/>
              </a:rPr>
              <a:t>hours</a:t>
            </a:r>
            <a:endParaRPr lang="en-US" sz="1600" dirty="0"/>
          </a:p>
        </p:txBody>
      </p:sp>
      <p:sp>
        <p:nvSpPr>
          <p:cNvPr id="10" name="Text 7"/>
          <p:cNvSpPr txBox="1"/>
          <p:nvPr/>
        </p:nvSpPr>
        <p:spPr>
          <a:xfrm>
            <a:off x="914400" y="5212080"/>
            <a:ext cx="2743200" cy="91440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Managers and business users who read dashboards</a:t>
            </a:r>
            <a:endParaRPr lang="en-US" sz="1400" dirty="0"/>
          </a:p>
        </p:txBody>
      </p:sp>
      <p:sp>
        <p:nvSpPr>
          <p:cNvPr id="11" name="Shape 8"/>
          <p:cNvSpPr/>
          <p:nvPr/>
        </p:nvSpPr>
        <p:spPr>
          <a:xfrm>
            <a:off x="4389120" y="1463040"/>
            <a:ext cx="3429000" cy="484632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2" name="Shape 9"/>
          <p:cNvSpPr/>
          <p:nvPr/>
        </p:nvSpPr>
        <p:spPr>
          <a:xfrm>
            <a:off x="4754880" y="1828800"/>
            <a:ext cx="822960" cy="822960"/>
          </a:xfrm>
          <a:prstGeom prst="ellipse">
            <a:avLst/>
          </a:prstGeom>
          <a:solidFill>
            <a:srgbClr val="F2C811"/>
          </a:solidFill>
          <a:ln w="12700">
            <a:solidFill>
              <a:srgbClr val="F2C811"/>
            </a:solidFill>
            <a:prstDash val="solid"/>
          </a:ln>
        </p:spPr>
      </p:sp>
      <p:pic>
        <p:nvPicPr>
          <p:cNvPr id="13" name="Image 1" descr="preencoded.png"/>
          <p:cNvPicPr>
            <a:picLocks noChangeAspect="1"/>
          </p:cNvPicPr>
          <p:nvPr/>
        </p:nvPicPr>
        <p:blipFill>
          <a:blip r:embed="rId4"/>
          <a:stretch>
            <a:fillRect/>
          </a:stretch>
        </p:blipFill>
        <p:spPr>
          <a:xfrm>
            <a:off x="4968850" y="2042770"/>
            <a:ext cx="395021" cy="395021"/>
          </a:xfrm>
          <a:prstGeom prst="rect">
            <a:avLst/>
          </a:prstGeom>
        </p:spPr>
      </p:pic>
      <p:sp>
        <p:nvSpPr>
          <p:cNvPr id="14" name="Text 10"/>
          <p:cNvSpPr txBox="1"/>
          <p:nvPr/>
        </p:nvSpPr>
        <p:spPr>
          <a:xfrm>
            <a:off x="4754880" y="2880360"/>
            <a:ext cx="2743200" cy="274320"/>
          </a:xfrm>
          <a:prstGeom prst="rect">
            <a:avLst/>
          </a:prstGeom>
          <a:noFill/>
          <a:ln/>
        </p:spPr>
        <p:txBody>
          <a:bodyPr wrap="square" lIns="0" tIns="0" rIns="0" bIns="0" rtlCol="0" anchor="t"/>
          <a:lstStyle/>
          <a:p>
            <a:pPr marL="0" indent="0">
              <a:buNone/>
            </a:pPr>
            <a:r>
              <a:rPr lang="en-US" sz="1200" b="1" dirty="0">
                <a:solidFill>
                  <a:srgbClr val="6B7280"/>
                </a:solidFill>
                <a:latin typeface="Calibri" pitchFamily="34" charset="0"/>
                <a:ea typeface="Calibri" pitchFamily="34" charset="-122"/>
                <a:cs typeface="Calibri" pitchFamily="34" charset="-120"/>
              </a:rPr>
              <a:t>TIER 2</a:t>
            </a:r>
            <a:endParaRPr lang="en-US" sz="1200" dirty="0"/>
          </a:p>
        </p:txBody>
      </p:sp>
      <p:sp>
        <p:nvSpPr>
          <p:cNvPr id="15" name="Text 11"/>
          <p:cNvSpPr txBox="1"/>
          <p:nvPr/>
        </p:nvSpPr>
        <p:spPr>
          <a:xfrm>
            <a:off x="4754880" y="3154680"/>
            <a:ext cx="2743200" cy="822960"/>
          </a:xfrm>
          <a:prstGeom prst="rect">
            <a:avLst/>
          </a:prstGeom>
          <a:noFill/>
          <a:ln/>
        </p:spPr>
        <p:txBody>
          <a:bodyPr wrap="square" lIns="0" tIns="0" rIns="0" bIns="0" rtlCol="0" anchor="t"/>
          <a:lstStyle/>
          <a:p>
            <a:pPr marL="0" indent="0">
              <a:buNone/>
            </a:pPr>
            <a:r>
              <a:rPr lang="en-US" sz="2400" b="1" dirty="0">
                <a:solidFill>
                  <a:srgbClr val="1E1E24"/>
                </a:solidFill>
                <a:latin typeface="Cambria" pitchFamily="34" charset="0"/>
                <a:ea typeface="Cambria" pitchFamily="34" charset="-122"/>
                <a:cs typeface="Cambria" pitchFamily="34" charset="-120"/>
              </a:rPr>
              <a:t>Report creators</a:t>
            </a:r>
            <a:endParaRPr lang="en-US" sz="2400" dirty="0"/>
          </a:p>
        </p:txBody>
      </p:sp>
      <p:sp>
        <p:nvSpPr>
          <p:cNvPr id="16" name="Text 12"/>
          <p:cNvSpPr txBox="1"/>
          <p:nvPr/>
        </p:nvSpPr>
        <p:spPr>
          <a:xfrm>
            <a:off x="4754880" y="4023360"/>
            <a:ext cx="2743200" cy="777240"/>
          </a:xfrm>
          <a:prstGeom prst="rect">
            <a:avLst/>
          </a:prstGeom>
          <a:noFill/>
          <a:ln/>
        </p:spPr>
        <p:txBody>
          <a:bodyPr wrap="square" lIns="0" tIns="0" rIns="0" bIns="0" rtlCol="0" anchor="ctr"/>
          <a:lstStyle/>
          <a:p>
            <a:pPr marL="0" indent="0">
              <a:buNone/>
            </a:pPr>
            <a:r>
              <a:rPr lang="en-US" sz="5400" b="1" dirty="0">
                <a:solidFill>
                  <a:srgbClr val="1E1E24"/>
                </a:solidFill>
                <a:latin typeface="Cambria" pitchFamily="34" charset="0"/>
                <a:ea typeface="Cambria" pitchFamily="34" charset="-122"/>
                <a:cs typeface="Cambria" pitchFamily="34" charset="-120"/>
              </a:rPr>
              <a:t>20–30</a:t>
            </a:r>
            <a:endParaRPr lang="en-US" sz="5400" dirty="0"/>
          </a:p>
        </p:txBody>
      </p:sp>
      <p:sp>
        <p:nvSpPr>
          <p:cNvPr id="17" name="Text 13"/>
          <p:cNvSpPr txBox="1"/>
          <p:nvPr/>
        </p:nvSpPr>
        <p:spPr>
          <a:xfrm>
            <a:off x="4754880" y="4800600"/>
            <a:ext cx="2743200" cy="320040"/>
          </a:xfrm>
          <a:prstGeom prst="rect">
            <a:avLst/>
          </a:prstGeom>
          <a:noFill/>
          <a:ln/>
        </p:spPr>
        <p:txBody>
          <a:bodyPr wrap="square" lIns="0" tIns="0" rIns="0" bIns="0" rtlCol="0" anchor="t"/>
          <a:lstStyle/>
          <a:p>
            <a:pPr marL="0" indent="0">
              <a:buNone/>
            </a:pPr>
            <a:r>
              <a:rPr lang="en-US" sz="1600" dirty="0">
                <a:solidFill>
                  <a:srgbClr val="6B7280"/>
                </a:solidFill>
                <a:latin typeface="Calibri" pitchFamily="34" charset="0"/>
                <a:ea typeface="Calibri" pitchFamily="34" charset="-122"/>
                <a:cs typeface="Calibri" pitchFamily="34" charset="-120"/>
              </a:rPr>
              <a:t>hours</a:t>
            </a:r>
            <a:endParaRPr lang="en-US" sz="1600" dirty="0"/>
          </a:p>
        </p:txBody>
      </p:sp>
      <p:sp>
        <p:nvSpPr>
          <p:cNvPr id="18" name="Text 14"/>
          <p:cNvSpPr txBox="1"/>
          <p:nvPr/>
        </p:nvSpPr>
        <p:spPr>
          <a:xfrm>
            <a:off x="4754880" y="5212080"/>
            <a:ext cx="2743200" cy="91440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Business analysts and power users who build reports from existing datasets</a:t>
            </a:r>
            <a:endParaRPr lang="en-US" sz="1400" dirty="0"/>
          </a:p>
        </p:txBody>
      </p:sp>
      <p:sp>
        <p:nvSpPr>
          <p:cNvPr id="19" name="Shape 15"/>
          <p:cNvSpPr/>
          <p:nvPr/>
        </p:nvSpPr>
        <p:spPr>
          <a:xfrm>
            <a:off x="8229600" y="1463040"/>
            <a:ext cx="3429000" cy="484632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0" name="Shape 16"/>
          <p:cNvSpPr/>
          <p:nvPr/>
        </p:nvSpPr>
        <p:spPr>
          <a:xfrm>
            <a:off x="8595360" y="1828800"/>
            <a:ext cx="822960" cy="822960"/>
          </a:xfrm>
          <a:prstGeom prst="ellipse">
            <a:avLst/>
          </a:prstGeom>
          <a:solidFill>
            <a:srgbClr val="F2C811"/>
          </a:solidFill>
          <a:ln w="12700">
            <a:solidFill>
              <a:srgbClr val="F2C811"/>
            </a:solidFill>
            <a:prstDash val="solid"/>
          </a:ln>
        </p:spPr>
      </p:sp>
      <p:pic>
        <p:nvPicPr>
          <p:cNvPr id="21" name="Image 2" descr="preencoded.png"/>
          <p:cNvPicPr>
            <a:picLocks noChangeAspect="1"/>
          </p:cNvPicPr>
          <p:nvPr/>
        </p:nvPicPr>
        <p:blipFill>
          <a:blip r:embed="rId5"/>
          <a:stretch>
            <a:fillRect/>
          </a:stretch>
        </p:blipFill>
        <p:spPr>
          <a:xfrm>
            <a:off x="8809330" y="2042770"/>
            <a:ext cx="395021" cy="395021"/>
          </a:xfrm>
          <a:prstGeom prst="rect">
            <a:avLst/>
          </a:prstGeom>
        </p:spPr>
      </p:pic>
      <p:sp>
        <p:nvSpPr>
          <p:cNvPr id="22" name="Text 17"/>
          <p:cNvSpPr txBox="1"/>
          <p:nvPr/>
        </p:nvSpPr>
        <p:spPr>
          <a:xfrm>
            <a:off x="8595360" y="2880360"/>
            <a:ext cx="2743200" cy="274320"/>
          </a:xfrm>
          <a:prstGeom prst="rect">
            <a:avLst/>
          </a:prstGeom>
          <a:noFill/>
          <a:ln/>
        </p:spPr>
        <p:txBody>
          <a:bodyPr wrap="square" lIns="0" tIns="0" rIns="0" bIns="0" rtlCol="0" anchor="t"/>
          <a:lstStyle/>
          <a:p>
            <a:pPr marL="0" indent="0">
              <a:buNone/>
            </a:pPr>
            <a:r>
              <a:rPr lang="en-US" sz="1200" b="1" dirty="0">
                <a:solidFill>
                  <a:srgbClr val="6B7280"/>
                </a:solidFill>
                <a:latin typeface="Calibri" pitchFamily="34" charset="0"/>
                <a:ea typeface="Calibri" pitchFamily="34" charset="-122"/>
                <a:cs typeface="Calibri" pitchFamily="34" charset="-120"/>
              </a:rPr>
              <a:t>TIER 3</a:t>
            </a:r>
            <a:endParaRPr lang="en-US" sz="1200" dirty="0"/>
          </a:p>
        </p:txBody>
      </p:sp>
      <p:sp>
        <p:nvSpPr>
          <p:cNvPr id="23" name="Text 18"/>
          <p:cNvSpPr txBox="1"/>
          <p:nvPr/>
        </p:nvSpPr>
        <p:spPr>
          <a:xfrm>
            <a:off x="8595360" y="3154680"/>
            <a:ext cx="2743200" cy="822960"/>
          </a:xfrm>
          <a:prstGeom prst="rect">
            <a:avLst/>
          </a:prstGeom>
          <a:noFill/>
          <a:ln/>
        </p:spPr>
        <p:txBody>
          <a:bodyPr wrap="square" lIns="0" tIns="0" rIns="0" bIns="0" rtlCol="0" anchor="t"/>
          <a:lstStyle/>
          <a:p>
            <a:pPr marL="0" indent="0">
              <a:buNone/>
            </a:pPr>
            <a:r>
              <a:rPr lang="en-US" sz="2400" b="1" dirty="0">
                <a:solidFill>
                  <a:srgbClr val="1E1E24"/>
                </a:solidFill>
                <a:latin typeface="Cambria" pitchFamily="34" charset="0"/>
                <a:ea typeface="Cambria" pitchFamily="34" charset="-122"/>
                <a:cs typeface="Cambria" pitchFamily="34" charset="-120"/>
              </a:rPr>
              <a:t>Data and model builders</a:t>
            </a:r>
            <a:endParaRPr lang="en-US" sz="2400" dirty="0"/>
          </a:p>
        </p:txBody>
      </p:sp>
      <p:sp>
        <p:nvSpPr>
          <p:cNvPr id="24" name="Text 19"/>
          <p:cNvSpPr txBox="1"/>
          <p:nvPr/>
        </p:nvSpPr>
        <p:spPr>
          <a:xfrm>
            <a:off x="8595360" y="4023360"/>
            <a:ext cx="2743200" cy="777240"/>
          </a:xfrm>
          <a:prstGeom prst="rect">
            <a:avLst/>
          </a:prstGeom>
          <a:noFill/>
          <a:ln/>
        </p:spPr>
        <p:txBody>
          <a:bodyPr wrap="square" lIns="0" tIns="0" rIns="0" bIns="0" rtlCol="0" anchor="ctr"/>
          <a:lstStyle/>
          <a:p>
            <a:pPr marL="0" indent="0">
              <a:buNone/>
            </a:pPr>
            <a:r>
              <a:rPr lang="en-US" sz="5400" b="1" dirty="0">
                <a:solidFill>
                  <a:srgbClr val="1E1E24"/>
                </a:solidFill>
                <a:latin typeface="Cambria" pitchFamily="34" charset="0"/>
                <a:ea typeface="Cambria" pitchFamily="34" charset="-122"/>
                <a:cs typeface="Cambria" pitchFamily="34" charset="-120"/>
              </a:rPr>
              <a:t>60</a:t>
            </a:r>
            <a:endParaRPr lang="en-US" sz="5400" dirty="0"/>
          </a:p>
        </p:txBody>
      </p:sp>
      <p:sp>
        <p:nvSpPr>
          <p:cNvPr id="25" name="Text 20"/>
          <p:cNvSpPr txBox="1"/>
          <p:nvPr/>
        </p:nvSpPr>
        <p:spPr>
          <a:xfrm>
            <a:off x="8595360" y="4800600"/>
            <a:ext cx="2743200" cy="320040"/>
          </a:xfrm>
          <a:prstGeom prst="rect">
            <a:avLst/>
          </a:prstGeom>
          <a:noFill/>
          <a:ln/>
        </p:spPr>
        <p:txBody>
          <a:bodyPr wrap="square" lIns="0" tIns="0" rIns="0" bIns="0" rtlCol="0" anchor="t"/>
          <a:lstStyle/>
          <a:p>
            <a:pPr marL="0" indent="0">
              <a:buNone/>
            </a:pPr>
            <a:r>
              <a:rPr lang="en-US" sz="1600" dirty="0">
                <a:solidFill>
                  <a:srgbClr val="6B7280"/>
                </a:solidFill>
                <a:latin typeface="Calibri" pitchFamily="34" charset="0"/>
                <a:ea typeface="Calibri" pitchFamily="34" charset="-122"/>
                <a:cs typeface="Calibri" pitchFamily="34" charset="-120"/>
              </a:rPr>
              <a:t>hours</a:t>
            </a:r>
            <a:endParaRPr lang="en-US" sz="1600" dirty="0"/>
          </a:p>
        </p:txBody>
      </p:sp>
      <p:sp>
        <p:nvSpPr>
          <p:cNvPr id="26" name="Text 21"/>
          <p:cNvSpPr txBox="1"/>
          <p:nvPr/>
        </p:nvSpPr>
        <p:spPr>
          <a:xfrm>
            <a:off x="8595360" y="5212080"/>
            <a:ext cx="2743200" cy="914400"/>
          </a:xfrm>
          <a:prstGeom prst="rect">
            <a:avLst/>
          </a:prstGeom>
          <a:noFill/>
          <a:ln/>
        </p:spPr>
        <p:txBody>
          <a:bodyPr wrap="square" lIns="0" tIns="0" rIns="0" bIns="0" rtlCol="0" anchor="t"/>
          <a:lstStyle/>
          <a:p>
            <a:pPr marL="0" indent="0">
              <a:buNone/>
            </a:pPr>
            <a:r>
              <a:rPr lang="en-US" sz="1400" dirty="0">
                <a:solidFill>
                  <a:srgbClr val="1F2937"/>
                </a:solidFill>
                <a:latin typeface="Calibri" pitchFamily="34" charset="0"/>
                <a:ea typeface="Calibri" pitchFamily="34" charset="-122"/>
                <a:cs typeface="Calibri" pitchFamily="34" charset="-120"/>
              </a:rPr>
              <a:t>BI developers and MI or reporting analysts who own datasets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4389120" cy="6858000"/>
          </a:xfrm>
          <a:prstGeom prst="rect">
            <a:avLst/>
          </a:prstGeom>
          <a:solidFill>
            <a:srgbClr val="1E1E24"/>
          </a:solidFill>
          <a:ln w="12700">
            <a:solidFill>
              <a:srgbClr val="1E1E24"/>
            </a:solidFill>
            <a:prstDash val="solid"/>
          </a:ln>
        </p:spPr>
      </p:sp>
      <p:sp>
        <p:nvSpPr>
          <p:cNvPr id="3" name="Shape 1"/>
          <p:cNvSpPr/>
          <p:nvPr/>
        </p:nvSpPr>
        <p:spPr>
          <a:xfrm>
            <a:off x="548640" y="731520"/>
            <a:ext cx="1005840" cy="1005840"/>
          </a:xfrm>
          <a:prstGeom prst="ellipse">
            <a:avLst/>
          </a:prstGeom>
          <a:solidFill>
            <a:srgbClr val="F2C811"/>
          </a:solidFill>
          <a:ln w="12700">
            <a:solidFill>
              <a:srgbClr val="F2C811"/>
            </a:solidFill>
            <a:prstDash val="solid"/>
          </a:ln>
        </p:spPr>
      </p:sp>
      <p:pic>
        <p:nvPicPr>
          <p:cNvPr id="4" name="Image 0" descr="preencoded.png"/>
          <p:cNvPicPr>
            <a:picLocks noChangeAspect="1"/>
          </p:cNvPicPr>
          <p:nvPr/>
        </p:nvPicPr>
        <p:blipFill>
          <a:blip r:embed="rId3"/>
          <a:stretch>
            <a:fillRect/>
          </a:stretch>
        </p:blipFill>
        <p:spPr>
          <a:xfrm>
            <a:off x="810158" y="993038"/>
            <a:ext cx="482803" cy="482803"/>
          </a:xfrm>
          <a:prstGeom prst="rect">
            <a:avLst/>
          </a:prstGeom>
        </p:spPr>
      </p:pic>
      <p:sp>
        <p:nvSpPr>
          <p:cNvPr id="5" name="Text 2"/>
          <p:cNvSpPr txBox="1"/>
          <p:nvPr/>
        </p:nvSpPr>
        <p:spPr>
          <a:xfrm>
            <a:off x="548640" y="2011680"/>
            <a:ext cx="3291840" cy="274320"/>
          </a:xfrm>
          <a:prstGeom prst="rect">
            <a:avLst/>
          </a:prstGeom>
          <a:noFill/>
          <a:ln/>
        </p:spPr>
        <p:txBody>
          <a:bodyPr wrap="square" lIns="0" tIns="0" rIns="0" bIns="0" rtlCol="0" anchor="t"/>
          <a:lstStyle/>
          <a:p>
            <a:pPr marL="0" indent="0">
              <a:buNone/>
            </a:pPr>
            <a:r>
              <a:rPr lang="en-US" sz="1400" b="1" dirty="0">
                <a:solidFill>
                  <a:srgbClr val="F2C811"/>
                </a:solidFill>
                <a:latin typeface="Calibri" pitchFamily="34" charset="0"/>
                <a:ea typeface="Calibri" pitchFamily="34" charset="-122"/>
                <a:cs typeface="Calibri" pitchFamily="34" charset="-120"/>
              </a:rPr>
              <a:t>TIER 1</a:t>
            </a:r>
            <a:endParaRPr lang="en-US" sz="1400" dirty="0"/>
          </a:p>
        </p:txBody>
      </p:sp>
      <p:sp>
        <p:nvSpPr>
          <p:cNvPr id="6" name="Text 3"/>
          <p:cNvSpPr txBox="1"/>
          <p:nvPr/>
        </p:nvSpPr>
        <p:spPr>
          <a:xfrm>
            <a:off x="548640" y="2331720"/>
            <a:ext cx="3474720" cy="1188720"/>
          </a:xfrm>
          <a:prstGeom prst="rect">
            <a:avLst/>
          </a:prstGeom>
          <a:noFill/>
          <a:ln/>
        </p:spPr>
        <p:txBody>
          <a:bodyPr wrap="square" lIns="0" tIns="0" rIns="0" bIns="0" rtlCol="0" anchor="t"/>
          <a:lstStyle/>
          <a:p>
            <a:pPr marL="0" indent="0">
              <a:buNone/>
            </a:pPr>
            <a:r>
              <a:rPr lang="en-US" sz="3200" b="1" dirty="0">
                <a:solidFill>
                  <a:srgbClr val="FFFFFF"/>
                </a:solidFill>
                <a:latin typeface="Cambria" pitchFamily="34" charset="0"/>
                <a:ea typeface="Cambria" pitchFamily="34" charset="-122"/>
                <a:cs typeface="Cambria" pitchFamily="34" charset="-120"/>
              </a:rPr>
              <a:t>Report consumers</a:t>
            </a:r>
            <a:endParaRPr lang="en-US" sz="3200" dirty="0"/>
          </a:p>
        </p:txBody>
      </p:sp>
      <p:sp>
        <p:nvSpPr>
          <p:cNvPr id="7" name="Text 4"/>
          <p:cNvSpPr txBox="1"/>
          <p:nvPr/>
        </p:nvSpPr>
        <p:spPr>
          <a:xfrm>
            <a:off x="548640" y="3657600"/>
            <a:ext cx="3474720" cy="640080"/>
          </a:xfrm>
          <a:prstGeom prst="rect">
            <a:avLst/>
          </a:prstGeom>
          <a:noFill/>
          <a:ln/>
        </p:spPr>
        <p:txBody>
          <a:bodyPr wrap="square" lIns="0" tIns="0" rIns="0" bIns="0" rtlCol="0" anchor="t"/>
          <a:lstStyle/>
          <a:p>
            <a:pPr marL="0" indent="0">
              <a:buNone/>
            </a:pPr>
            <a:r>
              <a:rPr lang="en-US" sz="3600" b="1" dirty="0">
                <a:solidFill>
                  <a:srgbClr val="F2C811"/>
                </a:solidFill>
                <a:latin typeface="Cambria" pitchFamily="34" charset="0"/>
                <a:ea typeface="Cambria" pitchFamily="34" charset="-122"/>
                <a:cs typeface="Cambria" pitchFamily="34" charset="-120"/>
              </a:rPr>
              <a:t>6–8 hours</a:t>
            </a:r>
            <a:endParaRPr lang="en-US" sz="3600" dirty="0"/>
          </a:p>
        </p:txBody>
      </p:sp>
      <p:sp>
        <p:nvSpPr>
          <p:cNvPr id="8" name="Text 5"/>
          <p:cNvSpPr txBox="1"/>
          <p:nvPr/>
        </p:nvSpPr>
        <p:spPr>
          <a:xfrm>
            <a:off x="548640" y="4526280"/>
            <a:ext cx="3474720" cy="914400"/>
          </a:xfrm>
          <a:prstGeom prst="rect">
            <a:avLst/>
          </a:prstGeom>
          <a:noFill/>
          <a:ln/>
        </p:spPr>
        <p:txBody>
          <a:bodyPr wrap="square" lIns="0" tIns="0" rIns="0" bIns="0" rtlCol="0" anchor="t"/>
          <a:lstStyle/>
          <a:p>
            <a:pPr marL="0" indent="0">
              <a:buNone/>
            </a:pPr>
            <a:r>
              <a:rPr lang="en-US" sz="1600" dirty="0">
                <a:solidFill>
                  <a:srgbClr val="D1D5DB"/>
                </a:solidFill>
                <a:latin typeface="Calibri" pitchFamily="34" charset="0"/>
                <a:ea typeface="Calibri" pitchFamily="34" charset="-122"/>
                <a:cs typeface="Calibri" pitchFamily="34" charset="-120"/>
              </a:rPr>
              <a:t>Managers and business users who read dashboards.</a:t>
            </a:r>
            <a:endParaRPr lang="en-US" sz="1600" dirty="0"/>
          </a:p>
        </p:txBody>
      </p:sp>
      <p:sp>
        <p:nvSpPr>
          <p:cNvPr id="9" name="Text 6"/>
          <p:cNvSpPr txBox="1"/>
          <p:nvPr/>
        </p:nvSpPr>
        <p:spPr>
          <a:xfrm>
            <a:off x="5029200" y="548640"/>
            <a:ext cx="6583680" cy="548640"/>
          </a:xfrm>
          <a:prstGeom prst="rect">
            <a:avLst/>
          </a:prstGeom>
          <a:noFill/>
          <a:ln/>
        </p:spPr>
        <p:txBody>
          <a:bodyPr wrap="square" lIns="0" tIns="0" rIns="0" bIns="0" rtlCol="0" anchor="t"/>
          <a:lstStyle/>
          <a:p>
            <a:pPr marL="0" indent="0">
              <a:buNone/>
            </a:pPr>
            <a:r>
              <a:rPr lang="en-US" sz="2600" b="1" dirty="0">
                <a:solidFill>
                  <a:srgbClr val="1E1E24"/>
                </a:solidFill>
                <a:latin typeface="Cambria" pitchFamily="34" charset="0"/>
                <a:ea typeface="Cambria" pitchFamily="34" charset="-122"/>
                <a:cs typeface="Cambria" pitchFamily="34" charset="-120"/>
              </a:rPr>
              <a:t>What they need</a:t>
            </a:r>
            <a:endParaRPr lang="en-US" sz="2600" dirty="0"/>
          </a:p>
        </p:txBody>
      </p:sp>
      <p:sp>
        <p:nvSpPr>
          <p:cNvPr id="10" name="Shape 7"/>
          <p:cNvSpPr/>
          <p:nvPr/>
        </p:nvSpPr>
        <p:spPr>
          <a:xfrm>
            <a:off x="5029200" y="1371600"/>
            <a:ext cx="6583680" cy="621792"/>
          </a:xfrm>
          <a:prstGeom prst="roundRect">
            <a:avLst>
              <a:gd name="adj" fmla="val 14706"/>
            </a:avLst>
          </a:prstGeom>
          <a:solidFill>
            <a:srgbClr val="F3F4F6"/>
          </a:solidFill>
          <a:ln w="12700">
            <a:solidFill>
              <a:srgbClr val="F3F4F6"/>
            </a:solidFill>
            <a:prstDash val="solid"/>
          </a:ln>
        </p:spPr>
      </p:sp>
      <p:sp>
        <p:nvSpPr>
          <p:cNvPr id="11" name="Shape 8"/>
          <p:cNvSpPr/>
          <p:nvPr/>
        </p:nvSpPr>
        <p:spPr>
          <a:xfrm>
            <a:off x="5193792" y="1472184"/>
            <a:ext cx="420624" cy="420624"/>
          </a:xfrm>
          <a:prstGeom prst="ellipse">
            <a:avLst/>
          </a:prstGeom>
          <a:solidFill>
            <a:srgbClr val="F2C811"/>
          </a:solidFill>
          <a:ln w="12700">
            <a:solidFill>
              <a:srgbClr val="F2C811"/>
            </a:solidFill>
            <a:prstDash val="solid"/>
          </a:ln>
        </p:spPr>
      </p:sp>
      <p:pic>
        <p:nvPicPr>
          <p:cNvPr id="12" name="Image 1" descr="preencoded.png"/>
          <p:cNvPicPr>
            <a:picLocks noChangeAspect="1"/>
          </p:cNvPicPr>
          <p:nvPr/>
        </p:nvPicPr>
        <p:blipFill>
          <a:blip r:embed="rId4"/>
          <a:stretch>
            <a:fillRect/>
          </a:stretch>
        </p:blipFill>
        <p:spPr>
          <a:xfrm>
            <a:off x="5303154" y="1581546"/>
            <a:ext cx="201900" cy="201900"/>
          </a:xfrm>
          <a:prstGeom prst="rect">
            <a:avLst/>
          </a:prstGeom>
        </p:spPr>
      </p:pic>
      <p:sp>
        <p:nvSpPr>
          <p:cNvPr id="13" name="Text 9"/>
          <p:cNvSpPr txBox="1"/>
          <p:nvPr/>
        </p:nvSpPr>
        <p:spPr>
          <a:xfrm>
            <a:off x="5806440" y="1371600"/>
            <a:ext cx="5669280" cy="621792"/>
          </a:xfrm>
          <a:prstGeom prst="rect">
            <a:avLst/>
          </a:prstGeom>
          <a:noFill/>
          <a:ln/>
        </p:spPr>
        <p:txBody>
          <a:bodyPr wrap="square" lIns="0" tIns="0" rIns="0" bIns="0" rtlCol="0" anchor="ctr"/>
          <a:lstStyle/>
          <a:p>
            <a:pPr marL="0" indent="0">
              <a:buNone/>
            </a:pPr>
            <a:r>
              <a:rPr lang="en-US" sz="1800" dirty="0">
                <a:solidFill>
                  <a:srgbClr val="1F2937"/>
                </a:solidFill>
                <a:latin typeface="Calibri" pitchFamily="34" charset="0"/>
                <a:ea typeface="Calibri" pitchFamily="34" charset="-122"/>
                <a:cs typeface="Calibri" pitchFamily="34" charset="-120"/>
              </a:rPr>
              <a:t>Navigation</a:t>
            </a:r>
            <a:endParaRPr lang="en-US" sz="1800" dirty="0"/>
          </a:p>
        </p:txBody>
      </p:sp>
      <p:sp>
        <p:nvSpPr>
          <p:cNvPr id="14" name="Shape 10"/>
          <p:cNvSpPr/>
          <p:nvPr/>
        </p:nvSpPr>
        <p:spPr>
          <a:xfrm>
            <a:off x="5029200" y="2148840"/>
            <a:ext cx="6583680" cy="621792"/>
          </a:xfrm>
          <a:prstGeom prst="roundRect">
            <a:avLst>
              <a:gd name="adj" fmla="val 14706"/>
            </a:avLst>
          </a:prstGeom>
          <a:solidFill>
            <a:srgbClr val="F3F4F6"/>
          </a:solidFill>
          <a:ln w="12700">
            <a:solidFill>
              <a:srgbClr val="F3F4F6"/>
            </a:solidFill>
            <a:prstDash val="solid"/>
          </a:ln>
        </p:spPr>
      </p:sp>
      <p:sp>
        <p:nvSpPr>
          <p:cNvPr id="15" name="Shape 11"/>
          <p:cNvSpPr/>
          <p:nvPr/>
        </p:nvSpPr>
        <p:spPr>
          <a:xfrm>
            <a:off x="5193792" y="2249424"/>
            <a:ext cx="420624" cy="420624"/>
          </a:xfrm>
          <a:prstGeom prst="ellipse">
            <a:avLst/>
          </a:prstGeom>
          <a:solidFill>
            <a:srgbClr val="F2C811"/>
          </a:solidFill>
          <a:ln w="12700">
            <a:solidFill>
              <a:srgbClr val="F2C811"/>
            </a:solidFill>
            <a:prstDash val="solid"/>
          </a:ln>
        </p:spPr>
      </p:sp>
      <p:pic>
        <p:nvPicPr>
          <p:cNvPr id="16" name="Image 2" descr="preencoded.png"/>
          <p:cNvPicPr>
            <a:picLocks noChangeAspect="1"/>
          </p:cNvPicPr>
          <p:nvPr/>
        </p:nvPicPr>
        <p:blipFill>
          <a:blip r:embed="rId4"/>
          <a:stretch>
            <a:fillRect/>
          </a:stretch>
        </p:blipFill>
        <p:spPr>
          <a:xfrm>
            <a:off x="5303154" y="2358786"/>
            <a:ext cx="201900" cy="201900"/>
          </a:xfrm>
          <a:prstGeom prst="rect">
            <a:avLst/>
          </a:prstGeom>
        </p:spPr>
      </p:pic>
      <p:sp>
        <p:nvSpPr>
          <p:cNvPr id="17" name="Text 12"/>
          <p:cNvSpPr txBox="1"/>
          <p:nvPr/>
        </p:nvSpPr>
        <p:spPr>
          <a:xfrm>
            <a:off x="5806440" y="2148840"/>
            <a:ext cx="5669280" cy="621792"/>
          </a:xfrm>
          <a:prstGeom prst="rect">
            <a:avLst/>
          </a:prstGeom>
          <a:noFill/>
          <a:ln/>
        </p:spPr>
        <p:txBody>
          <a:bodyPr wrap="square" lIns="0" tIns="0" rIns="0" bIns="0" rtlCol="0" anchor="ctr"/>
          <a:lstStyle/>
          <a:p>
            <a:pPr marL="0" indent="0">
              <a:buNone/>
            </a:pPr>
            <a:r>
              <a:rPr lang="en-US" sz="1800" dirty="0">
                <a:solidFill>
                  <a:srgbClr val="1F2937"/>
                </a:solidFill>
                <a:latin typeface="Calibri" pitchFamily="34" charset="0"/>
                <a:ea typeface="Calibri" pitchFamily="34" charset="-122"/>
                <a:cs typeface="Calibri" pitchFamily="34" charset="-120"/>
              </a:rPr>
              <a:t>Filtering and slicers</a:t>
            </a:r>
            <a:endParaRPr lang="en-US" sz="1800" dirty="0"/>
          </a:p>
        </p:txBody>
      </p:sp>
      <p:sp>
        <p:nvSpPr>
          <p:cNvPr id="18" name="Shape 13"/>
          <p:cNvSpPr/>
          <p:nvPr/>
        </p:nvSpPr>
        <p:spPr>
          <a:xfrm>
            <a:off x="5029200" y="2926080"/>
            <a:ext cx="6583680" cy="621792"/>
          </a:xfrm>
          <a:prstGeom prst="roundRect">
            <a:avLst>
              <a:gd name="adj" fmla="val 14706"/>
            </a:avLst>
          </a:prstGeom>
          <a:solidFill>
            <a:srgbClr val="F3F4F6"/>
          </a:solidFill>
          <a:ln w="12700">
            <a:solidFill>
              <a:srgbClr val="F3F4F6"/>
            </a:solidFill>
            <a:prstDash val="solid"/>
          </a:ln>
        </p:spPr>
      </p:sp>
      <p:sp>
        <p:nvSpPr>
          <p:cNvPr id="19" name="Shape 14"/>
          <p:cNvSpPr/>
          <p:nvPr/>
        </p:nvSpPr>
        <p:spPr>
          <a:xfrm>
            <a:off x="5193792" y="3026664"/>
            <a:ext cx="420624" cy="420624"/>
          </a:xfrm>
          <a:prstGeom prst="ellipse">
            <a:avLst/>
          </a:prstGeom>
          <a:solidFill>
            <a:srgbClr val="F2C811"/>
          </a:solidFill>
          <a:ln w="12700">
            <a:solidFill>
              <a:srgbClr val="F2C811"/>
            </a:solidFill>
            <a:prstDash val="solid"/>
          </a:ln>
        </p:spPr>
      </p:sp>
      <p:pic>
        <p:nvPicPr>
          <p:cNvPr id="20" name="Image 3" descr="preencoded.png"/>
          <p:cNvPicPr>
            <a:picLocks noChangeAspect="1"/>
          </p:cNvPicPr>
          <p:nvPr/>
        </p:nvPicPr>
        <p:blipFill>
          <a:blip r:embed="rId4"/>
          <a:stretch>
            <a:fillRect/>
          </a:stretch>
        </p:blipFill>
        <p:spPr>
          <a:xfrm>
            <a:off x="5303154" y="3136026"/>
            <a:ext cx="201900" cy="201900"/>
          </a:xfrm>
          <a:prstGeom prst="rect">
            <a:avLst/>
          </a:prstGeom>
        </p:spPr>
      </p:pic>
      <p:sp>
        <p:nvSpPr>
          <p:cNvPr id="21" name="Text 15"/>
          <p:cNvSpPr txBox="1"/>
          <p:nvPr/>
        </p:nvSpPr>
        <p:spPr>
          <a:xfrm>
            <a:off x="5806440" y="2926080"/>
            <a:ext cx="5669280" cy="621792"/>
          </a:xfrm>
          <a:prstGeom prst="rect">
            <a:avLst/>
          </a:prstGeom>
          <a:noFill/>
          <a:ln/>
        </p:spPr>
        <p:txBody>
          <a:bodyPr wrap="square" lIns="0" tIns="0" rIns="0" bIns="0" rtlCol="0" anchor="ctr"/>
          <a:lstStyle/>
          <a:p>
            <a:pPr marL="0" indent="0">
              <a:buNone/>
            </a:pPr>
            <a:r>
              <a:rPr lang="en-US" sz="1800" dirty="0">
                <a:solidFill>
                  <a:srgbClr val="1F2937"/>
                </a:solidFill>
                <a:latin typeface="Calibri" pitchFamily="34" charset="0"/>
                <a:ea typeface="Calibri" pitchFamily="34" charset="-122"/>
                <a:cs typeface="Calibri" pitchFamily="34" charset="-120"/>
              </a:rPr>
              <a:t>Drill-down</a:t>
            </a:r>
            <a:endParaRPr lang="en-US" sz="1800" dirty="0"/>
          </a:p>
        </p:txBody>
      </p:sp>
      <p:sp>
        <p:nvSpPr>
          <p:cNvPr id="22" name="Shape 16"/>
          <p:cNvSpPr/>
          <p:nvPr/>
        </p:nvSpPr>
        <p:spPr>
          <a:xfrm>
            <a:off x="5029200" y="3703320"/>
            <a:ext cx="6583680" cy="621792"/>
          </a:xfrm>
          <a:prstGeom prst="roundRect">
            <a:avLst>
              <a:gd name="adj" fmla="val 14706"/>
            </a:avLst>
          </a:prstGeom>
          <a:solidFill>
            <a:srgbClr val="F3F4F6"/>
          </a:solidFill>
          <a:ln w="12700">
            <a:solidFill>
              <a:srgbClr val="F3F4F6"/>
            </a:solidFill>
            <a:prstDash val="solid"/>
          </a:ln>
        </p:spPr>
      </p:sp>
      <p:sp>
        <p:nvSpPr>
          <p:cNvPr id="23" name="Shape 17"/>
          <p:cNvSpPr/>
          <p:nvPr/>
        </p:nvSpPr>
        <p:spPr>
          <a:xfrm>
            <a:off x="5193792" y="3803904"/>
            <a:ext cx="420624" cy="420624"/>
          </a:xfrm>
          <a:prstGeom prst="ellipse">
            <a:avLst/>
          </a:prstGeom>
          <a:solidFill>
            <a:srgbClr val="F2C811"/>
          </a:solidFill>
          <a:ln w="12700">
            <a:solidFill>
              <a:srgbClr val="F2C811"/>
            </a:solidFill>
            <a:prstDash val="solid"/>
          </a:ln>
        </p:spPr>
      </p:sp>
      <p:pic>
        <p:nvPicPr>
          <p:cNvPr id="24" name="Image 4" descr="preencoded.png"/>
          <p:cNvPicPr>
            <a:picLocks noChangeAspect="1"/>
          </p:cNvPicPr>
          <p:nvPr/>
        </p:nvPicPr>
        <p:blipFill>
          <a:blip r:embed="rId4"/>
          <a:stretch>
            <a:fillRect/>
          </a:stretch>
        </p:blipFill>
        <p:spPr>
          <a:xfrm>
            <a:off x="5303154" y="3913266"/>
            <a:ext cx="201900" cy="201900"/>
          </a:xfrm>
          <a:prstGeom prst="rect">
            <a:avLst/>
          </a:prstGeom>
        </p:spPr>
      </p:pic>
      <p:sp>
        <p:nvSpPr>
          <p:cNvPr id="25" name="Text 18"/>
          <p:cNvSpPr txBox="1"/>
          <p:nvPr/>
        </p:nvSpPr>
        <p:spPr>
          <a:xfrm>
            <a:off x="5806440" y="3703320"/>
            <a:ext cx="5669280" cy="621792"/>
          </a:xfrm>
          <a:prstGeom prst="rect">
            <a:avLst/>
          </a:prstGeom>
          <a:noFill/>
          <a:ln/>
        </p:spPr>
        <p:txBody>
          <a:bodyPr wrap="square" lIns="0" tIns="0" rIns="0" bIns="0" rtlCol="0" anchor="ctr"/>
          <a:lstStyle/>
          <a:p>
            <a:pPr marL="0" indent="0">
              <a:buNone/>
            </a:pPr>
            <a:r>
              <a:rPr lang="en-US" sz="1800" dirty="0">
                <a:solidFill>
                  <a:srgbClr val="1F2937"/>
                </a:solidFill>
                <a:latin typeface="Calibri" pitchFamily="34" charset="0"/>
                <a:ea typeface="Calibri" pitchFamily="34" charset="-122"/>
                <a:cs typeface="Calibri" pitchFamily="34" charset="-120"/>
              </a:rPr>
              <a:t>Exporting, subscriptions and alerts</a:t>
            </a:r>
            <a:endParaRPr lang="en-US" sz="1800" dirty="0"/>
          </a:p>
        </p:txBody>
      </p:sp>
      <p:sp>
        <p:nvSpPr>
          <p:cNvPr id="26" name="Shape 19"/>
          <p:cNvSpPr/>
          <p:nvPr/>
        </p:nvSpPr>
        <p:spPr>
          <a:xfrm>
            <a:off x="5029200" y="4480560"/>
            <a:ext cx="6583680" cy="621792"/>
          </a:xfrm>
          <a:prstGeom prst="roundRect">
            <a:avLst>
              <a:gd name="adj" fmla="val 14706"/>
            </a:avLst>
          </a:prstGeom>
          <a:solidFill>
            <a:srgbClr val="F3F4F6"/>
          </a:solidFill>
          <a:ln w="12700">
            <a:solidFill>
              <a:srgbClr val="F3F4F6"/>
            </a:solidFill>
            <a:prstDash val="solid"/>
          </a:ln>
        </p:spPr>
      </p:sp>
      <p:sp>
        <p:nvSpPr>
          <p:cNvPr id="27" name="Shape 20"/>
          <p:cNvSpPr/>
          <p:nvPr/>
        </p:nvSpPr>
        <p:spPr>
          <a:xfrm>
            <a:off x="5193792" y="4581144"/>
            <a:ext cx="420624" cy="420624"/>
          </a:xfrm>
          <a:prstGeom prst="ellipse">
            <a:avLst/>
          </a:prstGeom>
          <a:solidFill>
            <a:srgbClr val="F2C811"/>
          </a:solidFill>
          <a:ln w="12700">
            <a:solidFill>
              <a:srgbClr val="F2C811"/>
            </a:solidFill>
            <a:prstDash val="solid"/>
          </a:ln>
        </p:spPr>
      </p:sp>
      <p:pic>
        <p:nvPicPr>
          <p:cNvPr id="28" name="Image 5" descr="preencoded.png"/>
          <p:cNvPicPr>
            <a:picLocks noChangeAspect="1"/>
          </p:cNvPicPr>
          <p:nvPr/>
        </p:nvPicPr>
        <p:blipFill>
          <a:blip r:embed="rId4"/>
          <a:stretch>
            <a:fillRect/>
          </a:stretch>
        </p:blipFill>
        <p:spPr>
          <a:xfrm>
            <a:off x="5303154" y="4690506"/>
            <a:ext cx="201900" cy="201900"/>
          </a:xfrm>
          <a:prstGeom prst="rect">
            <a:avLst/>
          </a:prstGeom>
        </p:spPr>
      </p:pic>
      <p:sp>
        <p:nvSpPr>
          <p:cNvPr id="29" name="Text 21"/>
          <p:cNvSpPr txBox="1"/>
          <p:nvPr/>
        </p:nvSpPr>
        <p:spPr>
          <a:xfrm>
            <a:off x="5806440" y="4480560"/>
            <a:ext cx="5669280" cy="621792"/>
          </a:xfrm>
          <a:prstGeom prst="rect">
            <a:avLst/>
          </a:prstGeom>
          <a:noFill/>
          <a:ln/>
        </p:spPr>
        <p:txBody>
          <a:bodyPr wrap="square" lIns="0" tIns="0" rIns="0" bIns="0" rtlCol="0" anchor="ctr"/>
          <a:lstStyle/>
          <a:p>
            <a:pPr marL="0" indent="0">
              <a:buNone/>
            </a:pPr>
            <a:r>
              <a:rPr lang="en-US" sz="1800" dirty="0">
                <a:solidFill>
                  <a:srgbClr val="1F2937"/>
                </a:solidFill>
                <a:latin typeface="Calibri" pitchFamily="34" charset="0"/>
                <a:ea typeface="Calibri" pitchFamily="34" charset="-122"/>
                <a:cs typeface="Calibri" pitchFamily="34" charset="-120"/>
              </a:rPr>
              <a:t>How to read the visuals correctly</a:t>
            </a:r>
            <a:endParaRPr lang="en-US" sz="1800" dirty="0"/>
          </a:p>
        </p:txBody>
      </p:sp>
      <p:sp>
        <p:nvSpPr>
          <p:cNvPr id="30" name="Shape 22"/>
          <p:cNvSpPr/>
          <p:nvPr/>
        </p:nvSpPr>
        <p:spPr>
          <a:xfrm>
            <a:off x="5029200" y="5440680"/>
            <a:ext cx="6583680" cy="868680"/>
          </a:xfrm>
          <a:prstGeom prst="roundRect">
            <a:avLst>
              <a:gd name="adj" fmla="val 10526"/>
            </a:avLst>
          </a:prstGeom>
          <a:solidFill>
            <a:srgbClr val="1E1E24"/>
          </a:solidFill>
          <a:ln w="12700">
            <a:solidFill>
              <a:srgbClr val="1E1E24"/>
            </a:solidFill>
            <a:prstDash val="solid"/>
          </a:ln>
        </p:spPr>
      </p:sp>
      <p:sp>
        <p:nvSpPr>
          <p:cNvPr id="31" name="Shape 23"/>
          <p:cNvSpPr/>
          <p:nvPr/>
        </p:nvSpPr>
        <p:spPr>
          <a:xfrm>
            <a:off x="5230368" y="5641848"/>
            <a:ext cx="475488" cy="475488"/>
          </a:xfrm>
          <a:prstGeom prst="ellipse">
            <a:avLst/>
          </a:prstGeom>
          <a:solidFill>
            <a:srgbClr val="B91C1C"/>
          </a:solidFill>
          <a:ln w="12700">
            <a:solidFill>
              <a:srgbClr val="B91C1C"/>
            </a:solidFill>
            <a:prstDash val="solid"/>
          </a:ln>
        </p:spPr>
      </p:sp>
      <p:pic>
        <p:nvPicPr>
          <p:cNvPr id="32" name="Image 6" descr="preencoded.png"/>
          <p:cNvPicPr>
            <a:picLocks noChangeAspect="1"/>
          </p:cNvPicPr>
          <p:nvPr/>
        </p:nvPicPr>
        <p:blipFill>
          <a:blip r:embed="rId5"/>
          <a:stretch>
            <a:fillRect/>
          </a:stretch>
        </p:blipFill>
        <p:spPr>
          <a:xfrm>
            <a:off x="5353995" y="5765475"/>
            <a:ext cx="228234" cy="228234"/>
          </a:xfrm>
          <a:prstGeom prst="rect">
            <a:avLst/>
          </a:prstGeom>
        </p:spPr>
      </p:pic>
      <p:sp>
        <p:nvSpPr>
          <p:cNvPr id="33" name="Text 24"/>
          <p:cNvSpPr txBox="1"/>
          <p:nvPr/>
        </p:nvSpPr>
        <p:spPr>
          <a:xfrm>
            <a:off x="5943600" y="5440680"/>
            <a:ext cx="5486400" cy="86868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Skip modelling and DAX entirely.</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8229600" cy="731520"/>
          </a:xfrm>
          <a:prstGeom prst="rect">
            <a:avLst/>
          </a:prstGeom>
          <a:noFill/>
          <a:ln/>
        </p:spPr>
        <p:txBody>
          <a:bodyPr wrap="square" lIns="0" tIns="0" rIns="0" bIns="0" rtlCol="0" anchor="t"/>
          <a:lstStyle/>
          <a:p>
            <a:pPr marL="0" indent="0">
              <a:buNone/>
            </a:pPr>
            <a:r>
              <a:rPr lang="en-US" sz="3600" b="1" dirty="0">
                <a:solidFill>
                  <a:srgbClr val="1E1E24"/>
                </a:solidFill>
                <a:latin typeface="Cambria" pitchFamily="34" charset="0"/>
                <a:ea typeface="Cambria" pitchFamily="34" charset="-122"/>
                <a:cs typeface="Cambria" pitchFamily="34" charset="-120"/>
              </a:rPr>
              <a:t>Tier 2: Report creators</a:t>
            </a:r>
            <a:endParaRPr lang="en-US" sz="3600" dirty="0"/>
          </a:p>
        </p:txBody>
      </p:sp>
      <p:sp>
        <p:nvSpPr>
          <p:cNvPr id="3" name="Shape 1"/>
          <p:cNvSpPr/>
          <p:nvPr/>
        </p:nvSpPr>
        <p:spPr>
          <a:xfrm>
            <a:off x="9418320" y="566928"/>
            <a:ext cx="2194560" cy="548640"/>
          </a:xfrm>
          <a:prstGeom prst="roundRect">
            <a:avLst>
              <a:gd name="adj" fmla="val 50000"/>
            </a:avLst>
          </a:prstGeom>
          <a:solidFill>
            <a:srgbClr val="F2C811"/>
          </a:solidFill>
          <a:ln w="12700">
            <a:solidFill>
              <a:srgbClr val="F2C811"/>
            </a:solidFill>
            <a:prstDash val="solid"/>
          </a:ln>
        </p:spPr>
      </p:sp>
      <p:sp>
        <p:nvSpPr>
          <p:cNvPr id="4" name="Text 2"/>
          <p:cNvSpPr txBox="1"/>
          <p:nvPr/>
        </p:nvSpPr>
        <p:spPr>
          <a:xfrm>
            <a:off x="9418320" y="566928"/>
            <a:ext cx="2194560" cy="548640"/>
          </a:xfrm>
          <a:prstGeom prst="rect">
            <a:avLst/>
          </a:prstGeom>
          <a:noFill/>
          <a:ln/>
        </p:spPr>
        <p:txBody>
          <a:bodyPr wrap="square" lIns="0" tIns="0" rIns="0" bIns="0" rtlCol="0" anchor="ctr"/>
          <a:lstStyle/>
          <a:p>
            <a:pPr marL="0" indent="0" algn="ctr">
              <a:buNone/>
            </a:pPr>
            <a:r>
              <a:rPr lang="en-US" sz="1800" b="1" dirty="0">
                <a:solidFill>
                  <a:srgbClr val="1E1E24"/>
                </a:solidFill>
                <a:latin typeface="Calibri" pitchFamily="34" charset="0"/>
                <a:ea typeface="Calibri" pitchFamily="34" charset="-122"/>
                <a:cs typeface="Calibri" pitchFamily="34" charset="-120"/>
              </a:rPr>
              <a:t>20–30 hours</a:t>
            </a:r>
            <a:endParaRPr lang="en-US" sz="1800" dirty="0"/>
          </a:p>
        </p:txBody>
      </p:sp>
      <p:sp>
        <p:nvSpPr>
          <p:cNvPr id="5" name="Text 3"/>
          <p:cNvSpPr txBox="1"/>
          <p:nvPr/>
        </p:nvSpPr>
        <p:spPr>
          <a:xfrm>
            <a:off x="548640" y="1280160"/>
            <a:ext cx="11064240" cy="457200"/>
          </a:xfrm>
          <a:prstGeom prst="rect">
            <a:avLst/>
          </a:prstGeom>
          <a:noFill/>
          <a:ln/>
        </p:spPr>
        <p:txBody>
          <a:bodyPr wrap="square" lIns="0" tIns="0" rIns="0" bIns="0" rtlCol="0" anchor="t"/>
          <a:lstStyle/>
          <a:p>
            <a:pPr marL="0" indent="0">
              <a:buNone/>
            </a:pPr>
            <a:r>
              <a:rPr lang="en-US" sz="1800" dirty="0">
                <a:solidFill>
                  <a:srgbClr val="6B7280"/>
                </a:solidFill>
                <a:latin typeface="Calibri" pitchFamily="34" charset="0"/>
                <a:ea typeface="Calibri" pitchFamily="34" charset="-122"/>
                <a:cs typeface="Calibri" pitchFamily="34" charset="-120"/>
              </a:rPr>
              <a:t>Business analysts and power users who build their own reports from existing datasets.</a:t>
            </a:r>
            <a:endParaRPr lang="en-US" sz="1800" dirty="0"/>
          </a:p>
        </p:txBody>
      </p:sp>
      <p:sp>
        <p:nvSpPr>
          <p:cNvPr id="6" name="Text 4"/>
          <p:cNvSpPr txBox="1"/>
          <p:nvPr/>
        </p:nvSpPr>
        <p:spPr>
          <a:xfrm>
            <a:off x="548640" y="2103120"/>
            <a:ext cx="5303520" cy="457200"/>
          </a:xfrm>
          <a:prstGeom prst="rect">
            <a:avLst/>
          </a:prstGeom>
          <a:noFill/>
          <a:ln/>
        </p:spPr>
        <p:txBody>
          <a:bodyPr wrap="square" lIns="0" tIns="0" rIns="0" bIns="0" rtlCol="0" anchor="t"/>
          <a:lstStyle/>
          <a:p>
            <a:pPr marL="0" indent="0">
              <a:buNone/>
            </a:pPr>
            <a:r>
              <a:rPr lang="en-US" sz="2400" b="1" dirty="0">
                <a:solidFill>
                  <a:srgbClr val="1E1E24"/>
                </a:solidFill>
                <a:latin typeface="Cambria" pitchFamily="34" charset="0"/>
                <a:ea typeface="Cambria" pitchFamily="34" charset="-122"/>
                <a:cs typeface="Cambria" pitchFamily="34" charset="-120"/>
              </a:rPr>
              <a:t>What they need</a:t>
            </a:r>
            <a:endParaRPr lang="en-US" sz="2400" dirty="0"/>
          </a:p>
        </p:txBody>
      </p:sp>
      <p:sp>
        <p:nvSpPr>
          <p:cNvPr id="7" name="Shape 5"/>
          <p:cNvSpPr/>
          <p:nvPr/>
        </p:nvSpPr>
        <p:spPr>
          <a:xfrm>
            <a:off x="548640" y="2743200"/>
            <a:ext cx="502920" cy="502920"/>
          </a:xfrm>
          <a:prstGeom prst="ellipse">
            <a:avLst/>
          </a:prstGeom>
          <a:solidFill>
            <a:srgbClr val="1E1E24"/>
          </a:solidFill>
          <a:ln w="12700">
            <a:solidFill>
              <a:srgbClr val="1E1E24"/>
            </a:solidFill>
            <a:prstDash val="solid"/>
          </a:ln>
        </p:spPr>
      </p:sp>
      <p:sp>
        <p:nvSpPr>
          <p:cNvPr id="8" name="Text 6"/>
          <p:cNvSpPr txBox="1"/>
          <p:nvPr/>
        </p:nvSpPr>
        <p:spPr>
          <a:xfrm>
            <a:off x="548640" y="2743200"/>
            <a:ext cx="502920" cy="502920"/>
          </a:xfrm>
          <a:prstGeom prst="rect">
            <a:avLst/>
          </a:prstGeom>
          <a:noFill/>
          <a:ln/>
        </p:spPr>
        <p:txBody>
          <a:bodyPr wrap="square" lIns="0" tIns="0" rIns="0" bIns="0" rtlCol="0" anchor="ctr"/>
          <a:lstStyle/>
          <a:p>
            <a:pPr marL="0" indent="0" algn="ctr">
              <a:buNone/>
            </a:pPr>
            <a:r>
              <a:rPr lang="en-US" sz="1600" b="1" dirty="0">
                <a:solidFill>
                  <a:srgbClr val="F2C811"/>
                </a:solidFill>
                <a:latin typeface="Calibri" pitchFamily="34" charset="0"/>
                <a:ea typeface="Calibri" pitchFamily="34" charset="-122"/>
                <a:cs typeface="Calibri" pitchFamily="34" charset="-120"/>
              </a:rPr>
              <a:t>1</a:t>
            </a:r>
            <a:endParaRPr lang="en-US" sz="1600" dirty="0"/>
          </a:p>
        </p:txBody>
      </p:sp>
      <p:sp>
        <p:nvSpPr>
          <p:cNvPr id="9" name="Text 7"/>
          <p:cNvSpPr txBox="1"/>
          <p:nvPr/>
        </p:nvSpPr>
        <p:spPr>
          <a:xfrm>
            <a:off x="1280160" y="2743200"/>
            <a:ext cx="4572000" cy="502920"/>
          </a:xfrm>
          <a:prstGeom prst="rect">
            <a:avLst/>
          </a:prstGeom>
          <a:noFill/>
          <a:ln/>
        </p:spPr>
        <p:txBody>
          <a:bodyPr wrap="square" lIns="0" tIns="0" rIns="0" bIns="0" rtlCol="0" anchor="ctr"/>
          <a:lstStyle/>
          <a:p>
            <a:pPr marL="0" indent="0">
              <a:buNone/>
            </a:pPr>
            <a:r>
              <a:rPr lang="en-US" sz="1800" dirty="0">
                <a:solidFill>
                  <a:srgbClr val="1F2937"/>
                </a:solidFill>
                <a:latin typeface="Calibri" pitchFamily="34" charset="0"/>
                <a:ea typeface="Calibri" pitchFamily="34" charset="-122"/>
                <a:cs typeface="Calibri" pitchFamily="34" charset="-120"/>
              </a:rPr>
              <a:t>Power Query basics</a:t>
            </a:r>
            <a:endParaRPr lang="en-US" sz="1800" dirty="0"/>
          </a:p>
        </p:txBody>
      </p:sp>
      <p:sp>
        <p:nvSpPr>
          <p:cNvPr id="10" name="Shape 8"/>
          <p:cNvSpPr/>
          <p:nvPr/>
        </p:nvSpPr>
        <p:spPr>
          <a:xfrm>
            <a:off x="548640" y="3474720"/>
            <a:ext cx="502920" cy="502920"/>
          </a:xfrm>
          <a:prstGeom prst="ellipse">
            <a:avLst/>
          </a:prstGeom>
          <a:solidFill>
            <a:srgbClr val="1E1E24"/>
          </a:solidFill>
          <a:ln w="12700">
            <a:solidFill>
              <a:srgbClr val="1E1E24"/>
            </a:solidFill>
            <a:prstDash val="solid"/>
          </a:ln>
        </p:spPr>
      </p:sp>
      <p:sp>
        <p:nvSpPr>
          <p:cNvPr id="11" name="Text 9"/>
          <p:cNvSpPr txBox="1"/>
          <p:nvPr/>
        </p:nvSpPr>
        <p:spPr>
          <a:xfrm>
            <a:off x="548640" y="3474720"/>
            <a:ext cx="502920" cy="502920"/>
          </a:xfrm>
          <a:prstGeom prst="rect">
            <a:avLst/>
          </a:prstGeom>
          <a:noFill/>
          <a:ln/>
        </p:spPr>
        <p:txBody>
          <a:bodyPr wrap="square" lIns="0" tIns="0" rIns="0" bIns="0" rtlCol="0" anchor="ctr"/>
          <a:lstStyle/>
          <a:p>
            <a:pPr marL="0" indent="0" algn="ctr">
              <a:buNone/>
            </a:pPr>
            <a:r>
              <a:rPr lang="en-US" sz="1600" b="1" dirty="0">
                <a:solidFill>
                  <a:srgbClr val="F2C811"/>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1280160" y="3474720"/>
            <a:ext cx="4572000" cy="502920"/>
          </a:xfrm>
          <a:prstGeom prst="rect">
            <a:avLst/>
          </a:prstGeom>
          <a:noFill/>
          <a:ln/>
        </p:spPr>
        <p:txBody>
          <a:bodyPr wrap="square" lIns="0" tIns="0" rIns="0" bIns="0" rtlCol="0" anchor="ctr"/>
          <a:lstStyle/>
          <a:p>
            <a:pPr marL="0" indent="0">
              <a:buNone/>
            </a:pPr>
            <a:r>
              <a:rPr lang="en-US" sz="1800" dirty="0">
                <a:solidFill>
                  <a:srgbClr val="1F2937"/>
                </a:solidFill>
                <a:latin typeface="Calibri" pitchFamily="34" charset="0"/>
                <a:ea typeface="Calibri" pitchFamily="34" charset="-122"/>
                <a:cs typeface="Calibri" pitchFamily="34" charset="-120"/>
              </a:rPr>
              <a:t>Simple relationships</a:t>
            </a:r>
            <a:endParaRPr lang="en-US" sz="1800" dirty="0"/>
          </a:p>
        </p:txBody>
      </p:sp>
      <p:sp>
        <p:nvSpPr>
          <p:cNvPr id="13" name="Shape 11"/>
          <p:cNvSpPr/>
          <p:nvPr/>
        </p:nvSpPr>
        <p:spPr>
          <a:xfrm>
            <a:off x="548640" y="4206240"/>
            <a:ext cx="502920" cy="502920"/>
          </a:xfrm>
          <a:prstGeom prst="ellipse">
            <a:avLst/>
          </a:prstGeom>
          <a:solidFill>
            <a:srgbClr val="1E1E24"/>
          </a:solidFill>
          <a:ln w="12700">
            <a:solidFill>
              <a:srgbClr val="1E1E24"/>
            </a:solidFill>
            <a:prstDash val="solid"/>
          </a:ln>
        </p:spPr>
      </p:sp>
      <p:sp>
        <p:nvSpPr>
          <p:cNvPr id="14" name="Text 12"/>
          <p:cNvSpPr txBox="1"/>
          <p:nvPr/>
        </p:nvSpPr>
        <p:spPr>
          <a:xfrm>
            <a:off x="548640" y="4206240"/>
            <a:ext cx="502920" cy="502920"/>
          </a:xfrm>
          <a:prstGeom prst="rect">
            <a:avLst/>
          </a:prstGeom>
          <a:noFill/>
          <a:ln/>
        </p:spPr>
        <p:txBody>
          <a:bodyPr wrap="square" lIns="0" tIns="0" rIns="0" bIns="0" rtlCol="0" anchor="ctr"/>
          <a:lstStyle/>
          <a:p>
            <a:pPr marL="0" indent="0" algn="ctr">
              <a:buNone/>
            </a:pPr>
            <a:r>
              <a:rPr lang="en-US" sz="1600" b="1" dirty="0">
                <a:solidFill>
                  <a:srgbClr val="F2C811"/>
                </a:solidFill>
                <a:latin typeface="Calibri" pitchFamily="34" charset="0"/>
                <a:ea typeface="Calibri" pitchFamily="34" charset="-122"/>
                <a:cs typeface="Calibri" pitchFamily="34" charset="-120"/>
              </a:rPr>
              <a:t>3</a:t>
            </a:r>
            <a:endParaRPr lang="en-US" sz="1600" dirty="0"/>
          </a:p>
        </p:txBody>
      </p:sp>
      <p:sp>
        <p:nvSpPr>
          <p:cNvPr id="15" name="Text 13"/>
          <p:cNvSpPr txBox="1"/>
          <p:nvPr/>
        </p:nvSpPr>
        <p:spPr>
          <a:xfrm>
            <a:off x="1280160" y="4206240"/>
            <a:ext cx="4572000" cy="502920"/>
          </a:xfrm>
          <a:prstGeom prst="rect">
            <a:avLst/>
          </a:prstGeom>
          <a:noFill/>
          <a:ln/>
        </p:spPr>
        <p:txBody>
          <a:bodyPr wrap="square" lIns="0" tIns="0" rIns="0" bIns="0" rtlCol="0" anchor="ctr"/>
          <a:lstStyle/>
          <a:p>
            <a:pPr marL="0" indent="0">
              <a:buNone/>
            </a:pPr>
            <a:r>
              <a:rPr lang="en-US" sz="1800" dirty="0">
                <a:solidFill>
                  <a:srgbClr val="1F2937"/>
                </a:solidFill>
                <a:latin typeface="Calibri" pitchFamily="34" charset="0"/>
                <a:ea typeface="Calibri" pitchFamily="34" charset="-122"/>
                <a:cs typeface="Calibri" pitchFamily="34" charset="-120"/>
              </a:rPr>
              <a:t>Basic DAX measures</a:t>
            </a:r>
            <a:endParaRPr lang="en-US" sz="1800" dirty="0"/>
          </a:p>
        </p:txBody>
      </p:sp>
      <p:sp>
        <p:nvSpPr>
          <p:cNvPr id="16" name="Shape 14"/>
          <p:cNvSpPr/>
          <p:nvPr/>
        </p:nvSpPr>
        <p:spPr>
          <a:xfrm>
            <a:off x="548640" y="4937760"/>
            <a:ext cx="502920" cy="502920"/>
          </a:xfrm>
          <a:prstGeom prst="ellipse">
            <a:avLst/>
          </a:prstGeom>
          <a:solidFill>
            <a:srgbClr val="1E1E24"/>
          </a:solidFill>
          <a:ln w="12700">
            <a:solidFill>
              <a:srgbClr val="1E1E24"/>
            </a:solidFill>
            <a:prstDash val="solid"/>
          </a:ln>
        </p:spPr>
      </p:sp>
      <p:sp>
        <p:nvSpPr>
          <p:cNvPr id="17" name="Text 15"/>
          <p:cNvSpPr txBox="1"/>
          <p:nvPr/>
        </p:nvSpPr>
        <p:spPr>
          <a:xfrm>
            <a:off x="548640" y="4937760"/>
            <a:ext cx="502920" cy="502920"/>
          </a:xfrm>
          <a:prstGeom prst="rect">
            <a:avLst/>
          </a:prstGeom>
          <a:noFill/>
          <a:ln/>
        </p:spPr>
        <p:txBody>
          <a:bodyPr wrap="square" lIns="0" tIns="0" rIns="0" bIns="0" rtlCol="0" anchor="ctr"/>
          <a:lstStyle/>
          <a:p>
            <a:pPr marL="0" indent="0" algn="ctr">
              <a:buNone/>
            </a:pPr>
            <a:r>
              <a:rPr lang="en-US" sz="1600" b="1" dirty="0">
                <a:solidFill>
                  <a:srgbClr val="F2C811"/>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280160" y="4937760"/>
            <a:ext cx="4572000" cy="502920"/>
          </a:xfrm>
          <a:prstGeom prst="rect">
            <a:avLst/>
          </a:prstGeom>
          <a:noFill/>
          <a:ln/>
        </p:spPr>
        <p:txBody>
          <a:bodyPr wrap="square" lIns="0" tIns="0" rIns="0" bIns="0" rtlCol="0" anchor="ctr"/>
          <a:lstStyle/>
          <a:p>
            <a:pPr marL="0" indent="0">
              <a:buNone/>
            </a:pPr>
            <a:r>
              <a:rPr lang="en-US" sz="1800" dirty="0">
                <a:solidFill>
                  <a:srgbClr val="1F2937"/>
                </a:solidFill>
                <a:latin typeface="Calibri" pitchFamily="34" charset="0"/>
                <a:ea typeface="Calibri" pitchFamily="34" charset="-122"/>
                <a:cs typeface="Calibri" pitchFamily="34" charset="-120"/>
              </a:rPr>
              <a:t>Choosing the right visual</a:t>
            </a:r>
            <a:endParaRPr lang="en-US" sz="1800" dirty="0"/>
          </a:p>
        </p:txBody>
      </p:sp>
      <p:sp>
        <p:nvSpPr>
          <p:cNvPr id="19" name="Shape 17"/>
          <p:cNvSpPr/>
          <p:nvPr/>
        </p:nvSpPr>
        <p:spPr>
          <a:xfrm>
            <a:off x="548640" y="5669280"/>
            <a:ext cx="502920" cy="502920"/>
          </a:xfrm>
          <a:prstGeom prst="ellipse">
            <a:avLst/>
          </a:prstGeom>
          <a:solidFill>
            <a:srgbClr val="1E1E24"/>
          </a:solidFill>
          <a:ln w="12700">
            <a:solidFill>
              <a:srgbClr val="1E1E24"/>
            </a:solidFill>
            <a:prstDash val="solid"/>
          </a:ln>
        </p:spPr>
      </p:sp>
      <p:sp>
        <p:nvSpPr>
          <p:cNvPr id="20" name="Text 18"/>
          <p:cNvSpPr txBox="1"/>
          <p:nvPr/>
        </p:nvSpPr>
        <p:spPr>
          <a:xfrm>
            <a:off x="548640" y="5669280"/>
            <a:ext cx="502920" cy="502920"/>
          </a:xfrm>
          <a:prstGeom prst="rect">
            <a:avLst/>
          </a:prstGeom>
          <a:noFill/>
          <a:ln/>
        </p:spPr>
        <p:txBody>
          <a:bodyPr wrap="square" lIns="0" tIns="0" rIns="0" bIns="0" rtlCol="0" anchor="ctr"/>
          <a:lstStyle/>
          <a:p>
            <a:pPr marL="0" indent="0" algn="ctr">
              <a:buNone/>
            </a:pPr>
            <a:r>
              <a:rPr lang="en-US" sz="1600" b="1" dirty="0">
                <a:solidFill>
                  <a:srgbClr val="F2C811"/>
                </a:solidFill>
                <a:latin typeface="Calibri" pitchFamily="34" charset="0"/>
                <a:ea typeface="Calibri" pitchFamily="34" charset="-122"/>
                <a:cs typeface="Calibri" pitchFamily="34" charset="-120"/>
              </a:rPr>
              <a:t>5</a:t>
            </a:r>
            <a:endParaRPr lang="en-US" sz="1600" dirty="0"/>
          </a:p>
        </p:txBody>
      </p:sp>
      <p:sp>
        <p:nvSpPr>
          <p:cNvPr id="21" name="Text 19"/>
          <p:cNvSpPr txBox="1"/>
          <p:nvPr/>
        </p:nvSpPr>
        <p:spPr>
          <a:xfrm>
            <a:off x="1280160" y="5669280"/>
            <a:ext cx="4572000" cy="502920"/>
          </a:xfrm>
          <a:prstGeom prst="rect">
            <a:avLst/>
          </a:prstGeom>
          <a:noFill/>
          <a:ln/>
        </p:spPr>
        <p:txBody>
          <a:bodyPr wrap="square" lIns="0" tIns="0" rIns="0" bIns="0" rtlCol="0" anchor="ctr"/>
          <a:lstStyle/>
          <a:p>
            <a:pPr marL="0" indent="0">
              <a:buNone/>
            </a:pPr>
            <a:r>
              <a:rPr lang="en-US" sz="1800" dirty="0">
                <a:solidFill>
                  <a:srgbClr val="1F2937"/>
                </a:solidFill>
                <a:latin typeface="Calibri" pitchFamily="34" charset="0"/>
                <a:ea typeface="Calibri" pitchFamily="34" charset="-122"/>
                <a:cs typeface="Calibri" pitchFamily="34" charset="-120"/>
              </a:rPr>
              <a:t>Publishing and sharing in the Service</a:t>
            </a:r>
            <a:endParaRPr lang="en-US" sz="1800" dirty="0"/>
          </a:p>
        </p:txBody>
      </p:sp>
      <p:sp>
        <p:nvSpPr>
          <p:cNvPr id="22" name="Text 20"/>
          <p:cNvSpPr txBox="1"/>
          <p:nvPr/>
        </p:nvSpPr>
        <p:spPr>
          <a:xfrm>
            <a:off x="6492240" y="2103120"/>
            <a:ext cx="5120640" cy="457200"/>
          </a:xfrm>
          <a:prstGeom prst="rect">
            <a:avLst/>
          </a:prstGeom>
          <a:noFill/>
          <a:ln/>
        </p:spPr>
        <p:txBody>
          <a:bodyPr wrap="square" lIns="0" tIns="0" rIns="0" bIns="0" rtlCol="0" anchor="t"/>
          <a:lstStyle/>
          <a:p>
            <a:pPr marL="0" indent="0">
              <a:buNone/>
            </a:pPr>
            <a:r>
              <a:rPr lang="en-US" sz="2400" b="1" dirty="0">
                <a:solidFill>
                  <a:srgbClr val="1E1E24"/>
                </a:solidFill>
                <a:latin typeface="Cambria" pitchFamily="34" charset="0"/>
                <a:ea typeface="Cambria" pitchFamily="34" charset="-122"/>
                <a:cs typeface="Cambria" pitchFamily="34" charset="-120"/>
              </a:rPr>
              <a:t>Where it sits in the 30-day plan</a:t>
            </a:r>
            <a:endParaRPr lang="en-US" sz="2400" dirty="0"/>
          </a:p>
        </p:txBody>
      </p:sp>
      <p:sp>
        <p:nvSpPr>
          <p:cNvPr id="23" name="Shape 21"/>
          <p:cNvSpPr/>
          <p:nvPr/>
        </p:nvSpPr>
        <p:spPr>
          <a:xfrm>
            <a:off x="6492240" y="2743200"/>
            <a:ext cx="5120640" cy="713232"/>
          </a:xfrm>
          <a:prstGeom prst="roundRect">
            <a:avLst>
              <a:gd name="adj" fmla="val 12821"/>
            </a:avLst>
          </a:prstGeom>
          <a:solidFill>
            <a:srgbClr val="F2C811"/>
          </a:solidFill>
          <a:ln w="28575">
            <a:solidFill>
              <a:srgbClr val="F2C811"/>
            </a:solidFill>
            <a:prstDash val="solid"/>
          </a:ln>
        </p:spPr>
      </p:sp>
      <p:sp>
        <p:nvSpPr>
          <p:cNvPr id="24" name="Text 22"/>
          <p:cNvSpPr txBox="1"/>
          <p:nvPr/>
        </p:nvSpPr>
        <p:spPr>
          <a:xfrm>
            <a:off x="6720840" y="2834640"/>
            <a:ext cx="4754880" cy="292608"/>
          </a:xfrm>
          <a:prstGeom prst="rect">
            <a:avLst/>
          </a:prstGeom>
          <a:noFill/>
          <a:ln/>
        </p:spPr>
        <p:txBody>
          <a:bodyPr wrap="square" lIns="0" tIns="0" rIns="0" bIns="0" rtlCol="0" anchor="t"/>
          <a:lstStyle/>
          <a:p>
            <a:pPr marL="0" indent="0">
              <a:buNone/>
            </a:pPr>
            <a:r>
              <a:rPr lang="en-US" sz="1600" b="1" dirty="0">
                <a:solidFill>
                  <a:srgbClr val="1E1E24"/>
                </a:solidFill>
                <a:latin typeface="Calibri" pitchFamily="34" charset="0"/>
                <a:ea typeface="Calibri" pitchFamily="34" charset="-122"/>
                <a:cs typeface="Calibri" pitchFamily="34" charset="-120"/>
              </a:rPr>
              <a:t>Module 1: Data Connect &amp; Preparation</a:t>
            </a:r>
            <a:endParaRPr lang="en-US" sz="1600" dirty="0"/>
          </a:p>
        </p:txBody>
      </p:sp>
      <p:sp>
        <p:nvSpPr>
          <p:cNvPr id="25" name="Text 23"/>
          <p:cNvSpPr txBox="1"/>
          <p:nvPr/>
        </p:nvSpPr>
        <p:spPr>
          <a:xfrm>
            <a:off x="6720840" y="3145536"/>
            <a:ext cx="4754880" cy="256032"/>
          </a:xfrm>
          <a:prstGeom prst="rect">
            <a:avLst/>
          </a:prstGeom>
          <a:noFill/>
          <a:ln/>
        </p:spPr>
        <p:txBody>
          <a:bodyPr wrap="square" lIns="0" tIns="0" rIns="0" bIns="0" rtlCol="0" anchor="t"/>
          <a:lstStyle/>
          <a:p>
            <a:pPr marL="0" indent="0">
              <a:buNone/>
            </a:pPr>
            <a:r>
              <a:rPr lang="en-US" sz="1300" dirty="0">
                <a:solidFill>
                  <a:srgbClr val="1E1E24"/>
                </a:solidFill>
                <a:latin typeface="Calibri" pitchFamily="34" charset="0"/>
                <a:ea typeface="Calibri" pitchFamily="34" charset="-122"/>
                <a:cs typeface="Calibri" pitchFamily="34" charset="-120"/>
              </a:rPr>
              <a:t>Included</a:t>
            </a:r>
            <a:endParaRPr lang="en-US" sz="1300" dirty="0"/>
          </a:p>
        </p:txBody>
      </p:sp>
      <p:sp>
        <p:nvSpPr>
          <p:cNvPr id="26" name="Shape 24"/>
          <p:cNvSpPr/>
          <p:nvPr/>
        </p:nvSpPr>
        <p:spPr>
          <a:xfrm>
            <a:off x="6492240" y="3611880"/>
            <a:ext cx="5120640" cy="713232"/>
          </a:xfrm>
          <a:prstGeom prst="roundRect">
            <a:avLst>
              <a:gd name="adj" fmla="val 12821"/>
            </a:avLst>
          </a:prstGeom>
          <a:solidFill>
            <a:srgbClr val="FFFFFF"/>
          </a:solidFill>
          <a:ln w="28575">
            <a:solidFill>
              <a:srgbClr val="F2C811"/>
            </a:solidFill>
            <a:prstDash val="solid"/>
          </a:ln>
        </p:spPr>
      </p:sp>
      <p:sp>
        <p:nvSpPr>
          <p:cNvPr id="27" name="Text 25"/>
          <p:cNvSpPr txBox="1"/>
          <p:nvPr/>
        </p:nvSpPr>
        <p:spPr>
          <a:xfrm>
            <a:off x="6720840" y="3703320"/>
            <a:ext cx="4754880" cy="292608"/>
          </a:xfrm>
          <a:prstGeom prst="rect">
            <a:avLst/>
          </a:prstGeom>
          <a:noFill/>
          <a:ln/>
        </p:spPr>
        <p:txBody>
          <a:bodyPr wrap="square" lIns="0" tIns="0" rIns="0" bIns="0" rtlCol="0" anchor="t"/>
          <a:lstStyle/>
          <a:p>
            <a:pPr marL="0" indent="0">
              <a:buNone/>
            </a:pPr>
            <a:r>
              <a:rPr lang="en-US" sz="1600" b="1" dirty="0">
                <a:solidFill>
                  <a:srgbClr val="1E1E24"/>
                </a:solidFill>
                <a:latin typeface="Calibri" pitchFamily="34" charset="0"/>
                <a:ea typeface="Calibri" pitchFamily="34" charset="-122"/>
                <a:cs typeface="Calibri" pitchFamily="34" charset="-120"/>
              </a:rPr>
              <a:t>Module 2: Data Model &amp; DAX</a:t>
            </a:r>
            <a:endParaRPr lang="en-US" sz="1600" dirty="0"/>
          </a:p>
        </p:txBody>
      </p:sp>
      <p:sp>
        <p:nvSpPr>
          <p:cNvPr id="28" name="Text 26"/>
          <p:cNvSpPr txBox="1"/>
          <p:nvPr/>
        </p:nvSpPr>
        <p:spPr>
          <a:xfrm>
            <a:off x="6720840" y="4014216"/>
            <a:ext cx="4754880" cy="256032"/>
          </a:xfrm>
          <a:prstGeom prst="rect">
            <a:avLst/>
          </a:prstGeom>
          <a:noFill/>
          <a:ln/>
        </p:spPr>
        <p:txBody>
          <a:bodyPr wrap="square" lIns="0" tIns="0" rIns="0" bIns="0" rtlCol="0" anchor="t"/>
          <a:lstStyle/>
          <a:p>
            <a:pPr marL="0" indent="0">
              <a:buNone/>
            </a:pPr>
            <a:r>
              <a:rPr lang="en-US" sz="1300" dirty="0">
                <a:solidFill>
                  <a:srgbClr val="1E1E24"/>
                </a:solidFill>
                <a:latin typeface="Calibri" pitchFamily="34" charset="0"/>
                <a:ea typeface="Calibri" pitchFamily="34" charset="-122"/>
                <a:cs typeface="Calibri" pitchFamily="34" charset="-120"/>
              </a:rPr>
              <a:t>First half only (Days 8 to 12)</a:t>
            </a:r>
            <a:endParaRPr lang="en-US" sz="1300" dirty="0"/>
          </a:p>
        </p:txBody>
      </p:sp>
      <p:sp>
        <p:nvSpPr>
          <p:cNvPr id="29" name="Shape 27"/>
          <p:cNvSpPr/>
          <p:nvPr/>
        </p:nvSpPr>
        <p:spPr>
          <a:xfrm>
            <a:off x="6492240" y="4480560"/>
            <a:ext cx="5120640" cy="713232"/>
          </a:xfrm>
          <a:prstGeom prst="roundRect">
            <a:avLst>
              <a:gd name="adj" fmla="val 12821"/>
            </a:avLst>
          </a:prstGeom>
          <a:solidFill>
            <a:srgbClr val="F2C811"/>
          </a:solidFill>
          <a:ln w="28575">
            <a:solidFill>
              <a:srgbClr val="F2C811"/>
            </a:solidFill>
            <a:prstDash val="solid"/>
          </a:ln>
        </p:spPr>
      </p:sp>
      <p:sp>
        <p:nvSpPr>
          <p:cNvPr id="30" name="Text 28"/>
          <p:cNvSpPr txBox="1"/>
          <p:nvPr/>
        </p:nvSpPr>
        <p:spPr>
          <a:xfrm>
            <a:off x="6720840" y="4572000"/>
            <a:ext cx="4754880" cy="292608"/>
          </a:xfrm>
          <a:prstGeom prst="rect">
            <a:avLst/>
          </a:prstGeom>
          <a:noFill/>
          <a:ln/>
        </p:spPr>
        <p:txBody>
          <a:bodyPr wrap="square" lIns="0" tIns="0" rIns="0" bIns="0" rtlCol="0" anchor="t"/>
          <a:lstStyle/>
          <a:p>
            <a:pPr marL="0" indent="0">
              <a:buNone/>
            </a:pPr>
            <a:r>
              <a:rPr lang="en-US" sz="1600" b="1" dirty="0">
                <a:solidFill>
                  <a:srgbClr val="1E1E24"/>
                </a:solidFill>
                <a:latin typeface="Calibri" pitchFamily="34" charset="0"/>
                <a:ea typeface="Calibri" pitchFamily="34" charset="-122"/>
                <a:cs typeface="Calibri" pitchFamily="34" charset="-120"/>
              </a:rPr>
              <a:t>Module 3: Visualisations</a:t>
            </a:r>
            <a:endParaRPr lang="en-US" sz="1600" dirty="0"/>
          </a:p>
        </p:txBody>
      </p:sp>
      <p:sp>
        <p:nvSpPr>
          <p:cNvPr id="31" name="Text 29"/>
          <p:cNvSpPr txBox="1"/>
          <p:nvPr/>
        </p:nvSpPr>
        <p:spPr>
          <a:xfrm>
            <a:off x="6720840" y="4882896"/>
            <a:ext cx="4754880" cy="256032"/>
          </a:xfrm>
          <a:prstGeom prst="rect">
            <a:avLst/>
          </a:prstGeom>
          <a:noFill/>
          <a:ln/>
        </p:spPr>
        <p:txBody>
          <a:bodyPr wrap="square" lIns="0" tIns="0" rIns="0" bIns="0" rtlCol="0" anchor="t"/>
          <a:lstStyle/>
          <a:p>
            <a:pPr marL="0" indent="0">
              <a:buNone/>
            </a:pPr>
            <a:r>
              <a:rPr lang="en-US" sz="1300" dirty="0">
                <a:solidFill>
                  <a:srgbClr val="1E1E24"/>
                </a:solidFill>
                <a:latin typeface="Calibri" pitchFamily="34" charset="0"/>
                <a:ea typeface="Calibri" pitchFamily="34" charset="-122"/>
                <a:cs typeface="Calibri" pitchFamily="34" charset="-120"/>
              </a:rPr>
              <a:t>Included</a:t>
            </a:r>
            <a:endParaRPr lang="en-US" sz="1300" dirty="0"/>
          </a:p>
        </p:txBody>
      </p:sp>
      <p:sp>
        <p:nvSpPr>
          <p:cNvPr id="32" name="Shape 30"/>
          <p:cNvSpPr/>
          <p:nvPr/>
        </p:nvSpPr>
        <p:spPr>
          <a:xfrm>
            <a:off x="6492240" y="5349240"/>
            <a:ext cx="5120640" cy="713232"/>
          </a:xfrm>
          <a:prstGeom prst="roundRect">
            <a:avLst>
              <a:gd name="adj" fmla="val 12821"/>
            </a:avLst>
          </a:prstGeom>
          <a:solidFill>
            <a:srgbClr val="E5E7EB"/>
          </a:solidFill>
          <a:ln w="28575">
            <a:solidFill>
              <a:srgbClr val="E5E7EB"/>
            </a:solidFill>
            <a:prstDash val="solid"/>
          </a:ln>
        </p:spPr>
      </p:sp>
      <p:sp>
        <p:nvSpPr>
          <p:cNvPr id="33" name="Text 31"/>
          <p:cNvSpPr txBox="1"/>
          <p:nvPr/>
        </p:nvSpPr>
        <p:spPr>
          <a:xfrm>
            <a:off x="6720840" y="5440680"/>
            <a:ext cx="4754880" cy="292608"/>
          </a:xfrm>
          <a:prstGeom prst="rect">
            <a:avLst/>
          </a:prstGeom>
          <a:noFill/>
          <a:ln/>
        </p:spPr>
        <p:txBody>
          <a:bodyPr wrap="square" lIns="0" tIns="0" rIns="0" bIns="0" rtlCol="0" anchor="t"/>
          <a:lstStyle/>
          <a:p>
            <a:pPr marL="0" indent="0">
              <a:buNone/>
            </a:pPr>
            <a:r>
              <a:rPr lang="en-US" sz="1600" b="1" dirty="0">
                <a:solidFill>
                  <a:srgbClr val="6B7280"/>
                </a:solidFill>
                <a:latin typeface="Calibri" pitchFamily="34" charset="0"/>
                <a:ea typeface="Calibri" pitchFamily="34" charset="-122"/>
                <a:cs typeface="Calibri" pitchFamily="34" charset="-120"/>
              </a:rPr>
              <a:t>Module 4: Maintenance &amp; Security</a:t>
            </a:r>
            <a:endParaRPr lang="en-US" sz="1600" dirty="0"/>
          </a:p>
        </p:txBody>
      </p:sp>
      <p:sp>
        <p:nvSpPr>
          <p:cNvPr id="34" name="Text 32"/>
          <p:cNvSpPr txBox="1"/>
          <p:nvPr/>
        </p:nvSpPr>
        <p:spPr>
          <a:xfrm>
            <a:off x="6720840" y="5751576"/>
            <a:ext cx="4754880" cy="256032"/>
          </a:xfrm>
          <a:prstGeom prst="rect">
            <a:avLst/>
          </a:prstGeom>
          <a:noFill/>
          <a:ln/>
        </p:spPr>
        <p:txBody>
          <a:bodyPr wrap="square" lIns="0" tIns="0" rIns="0" bIns="0" rtlCol="0" anchor="t"/>
          <a:lstStyle/>
          <a:p>
            <a:pPr marL="0" indent="0">
              <a:buNone/>
            </a:pPr>
            <a:r>
              <a:rPr lang="en-US" sz="1300" dirty="0">
                <a:solidFill>
                  <a:srgbClr val="6B7280"/>
                </a:solidFill>
                <a:latin typeface="Calibri" pitchFamily="34" charset="0"/>
                <a:ea typeface="Calibri" pitchFamily="34" charset="-122"/>
                <a:cs typeface="Calibri" pitchFamily="34" charset="-120"/>
              </a:rPr>
              <a:t>Not included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64240" cy="731520"/>
          </a:xfrm>
          <a:prstGeom prst="rect">
            <a:avLst/>
          </a:prstGeom>
          <a:noFill/>
          <a:ln/>
        </p:spPr>
        <p:txBody>
          <a:bodyPr wrap="square" lIns="0" tIns="0" rIns="0" bIns="0" rtlCol="0" anchor="t"/>
          <a:lstStyle/>
          <a:p>
            <a:pPr marL="0" indent="0">
              <a:buNone/>
            </a:pPr>
            <a:r>
              <a:rPr lang="en-US" sz="3600" b="1" dirty="0">
                <a:solidFill>
                  <a:srgbClr val="1E1E24"/>
                </a:solidFill>
                <a:latin typeface="Cambria" pitchFamily="34" charset="0"/>
                <a:ea typeface="Cambria" pitchFamily="34" charset="-122"/>
                <a:cs typeface="Cambria" pitchFamily="34" charset="-120"/>
              </a:rPr>
              <a:t>Tier 3: Data and model builders</a:t>
            </a:r>
            <a:endParaRPr lang="en-US" sz="3600" dirty="0"/>
          </a:p>
        </p:txBody>
      </p:sp>
      <p:sp>
        <p:nvSpPr>
          <p:cNvPr id="3" name="Shape 1"/>
          <p:cNvSpPr/>
          <p:nvPr/>
        </p:nvSpPr>
        <p:spPr>
          <a:xfrm>
            <a:off x="548640" y="1554480"/>
            <a:ext cx="4023360" cy="4206240"/>
          </a:xfrm>
          <a:prstGeom prst="roundRect">
            <a:avLst>
              <a:gd name="adj" fmla="val 2727"/>
            </a:avLst>
          </a:prstGeom>
          <a:solidFill>
            <a:srgbClr val="F3F4F6"/>
          </a:solidFill>
          <a:ln w="12700">
            <a:solidFill>
              <a:srgbClr val="F3F4F6"/>
            </a:solidFill>
            <a:prstDash val="solid"/>
          </a:ln>
        </p:spPr>
      </p:sp>
      <p:sp>
        <p:nvSpPr>
          <p:cNvPr id="4" name="Text 2"/>
          <p:cNvSpPr txBox="1"/>
          <p:nvPr/>
        </p:nvSpPr>
        <p:spPr>
          <a:xfrm>
            <a:off x="548640" y="1737360"/>
            <a:ext cx="4023360" cy="1737360"/>
          </a:xfrm>
          <a:prstGeom prst="rect">
            <a:avLst/>
          </a:prstGeom>
          <a:noFill/>
          <a:ln/>
        </p:spPr>
        <p:txBody>
          <a:bodyPr wrap="square" lIns="0" tIns="0" rIns="0" bIns="0" rtlCol="0" anchor="ctr"/>
          <a:lstStyle/>
          <a:p>
            <a:pPr marL="0" indent="0" algn="ctr">
              <a:buNone/>
            </a:pPr>
            <a:r>
              <a:rPr lang="en-US" sz="11000" b="1" dirty="0">
                <a:solidFill>
                  <a:srgbClr val="1E1E24"/>
                </a:solidFill>
                <a:latin typeface="Cambria" pitchFamily="34" charset="0"/>
                <a:ea typeface="Cambria" pitchFamily="34" charset="-122"/>
                <a:cs typeface="Cambria" pitchFamily="34" charset="-120"/>
              </a:rPr>
              <a:t>60</a:t>
            </a:r>
            <a:endParaRPr lang="en-US" sz="11000" dirty="0"/>
          </a:p>
        </p:txBody>
      </p:sp>
      <p:sp>
        <p:nvSpPr>
          <p:cNvPr id="5" name="Text 3"/>
          <p:cNvSpPr txBox="1"/>
          <p:nvPr/>
        </p:nvSpPr>
        <p:spPr>
          <a:xfrm>
            <a:off x="548640" y="3474720"/>
            <a:ext cx="4023360" cy="457200"/>
          </a:xfrm>
          <a:prstGeom prst="rect">
            <a:avLst/>
          </a:prstGeom>
          <a:noFill/>
          <a:ln/>
        </p:spPr>
        <p:txBody>
          <a:bodyPr wrap="square" lIns="0" tIns="0" rIns="0" bIns="0" rtlCol="0" anchor="t"/>
          <a:lstStyle/>
          <a:p>
            <a:pPr marL="0" indent="0" algn="ctr">
              <a:buNone/>
            </a:pPr>
            <a:r>
              <a:rPr lang="en-US" sz="2600" dirty="0">
                <a:solidFill>
                  <a:srgbClr val="1E1E24"/>
                </a:solidFill>
                <a:latin typeface="Calibri" pitchFamily="34" charset="0"/>
                <a:ea typeface="Calibri" pitchFamily="34" charset="-122"/>
                <a:cs typeface="Calibri" pitchFamily="34" charset="-120"/>
              </a:rPr>
              <a:t>hours</a:t>
            </a:r>
            <a:endParaRPr lang="en-US" sz="2600" dirty="0"/>
          </a:p>
        </p:txBody>
      </p:sp>
      <p:sp>
        <p:nvSpPr>
          <p:cNvPr id="6" name="Text 4"/>
          <p:cNvSpPr txBox="1"/>
          <p:nvPr/>
        </p:nvSpPr>
        <p:spPr>
          <a:xfrm>
            <a:off x="868680" y="4160520"/>
            <a:ext cx="3383280" cy="1280160"/>
          </a:xfrm>
          <a:prstGeom prst="rect">
            <a:avLst/>
          </a:prstGeom>
          <a:noFill/>
          <a:ln/>
        </p:spPr>
        <p:txBody>
          <a:bodyPr wrap="square" lIns="0" tIns="0" rIns="0" bIns="0" rtlCol="0" anchor="t"/>
          <a:lstStyle/>
          <a:p>
            <a:pPr marL="0" indent="0" algn="ctr">
              <a:buNone/>
            </a:pPr>
            <a:r>
              <a:rPr lang="en-US" sz="1600" dirty="0">
                <a:solidFill>
                  <a:srgbClr val="1F2937"/>
                </a:solidFill>
                <a:latin typeface="Calibri" pitchFamily="34" charset="0"/>
                <a:ea typeface="Calibri" pitchFamily="34" charset="-122"/>
                <a:cs typeface="Calibri" pitchFamily="34" charset="-120"/>
              </a:rPr>
              <a:t>BI developers and MI or reporting analysts who own the company's datasets.</a:t>
            </a:r>
            <a:endParaRPr lang="en-US" sz="1600" dirty="0"/>
          </a:p>
        </p:txBody>
      </p:sp>
      <p:sp>
        <p:nvSpPr>
          <p:cNvPr id="7" name="Shape 5"/>
          <p:cNvSpPr/>
          <p:nvPr/>
        </p:nvSpPr>
        <p:spPr>
          <a:xfrm>
            <a:off x="5029200" y="1554480"/>
            <a:ext cx="3154680" cy="182880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8" name="Shape 6"/>
          <p:cNvSpPr/>
          <p:nvPr/>
        </p:nvSpPr>
        <p:spPr>
          <a:xfrm>
            <a:off x="5349240" y="1874520"/>
            <a:ext cx="731520" cy="731520"/>
          </a:xfrm>
          <a:prstGeom prst="ellipse">
            <a:avLst/>
          </a:prstGeom>
          <a:solidFill>
            <a:srgbClr val="F2C811"/>
          </a:solidFill>
          <a:ln w="12700">
            <a:solidFill>
              <a:srgbClr val="F2C811"/>
            </a:solidFill>
            <a:prstDash val="solid"/>
          </a:ln>
        </p:spPr>
      </p:sp>
      <p:pic>
        <p:nvPicPr>
          <p:cNvPr id="9" name="Image 0" descr="preencoded.png"/>
          <p:cNvPicPr>
            <a:picLocks noChangeAspect="1"/>
          </p:cNvPicPr>
          <p:nvPr/>
        </p:nvPicPr>
        <p:blipFill>
          <a:blip r:embed="rId3"/>
          <a:stretch>
            <a:fillRect/>
          </a:stretch>
        </p:blipFill>
        <p:spPr>
          <a:xfrm>
            <a:off x="5539435" y="2064715"/>
            <a:ext cx="351130" cy="351130"/>
          </a:xfrm>
          <a:prstGeom prst="rect">
            <a:avLst/>
          </a:prstGeom>
        </p:spPr>
      </p:pic>
      <p:sp>
        <p:nvSpPr>
          <p:cNvPr id="10" name="Text 7"/>
          <p:cNvSpPr txBox="1"/>
          <p:nvPr/>
        </p:nvSpPr>
        <p:spPr>
          <a:xfrm>
            <a:off x="5349240" y="2743200"/>
            <a:ext cx="2514600" cy="457200"/>
          </a:xfrm>
          <a:prstGeom prst="rect">
            <a:avLst/>
          </a:prstGeom>
          <a:noFill/>
          <a:ln/>
        </p:spPr>
        <p:txBody>
          <a:bodyPr wrap="square" lIns="0" tIns="0" rIns="0" bIns="0" rtlCol="0" anchor="t"/>
          <a:lstStyle/>
          <a:p>
            <a:pPr marL="0" indent="0">
              <a:buNone/>
            </a:pPr>
            <a:r>
              <a:rPr lang="en-US" sz="2000" b="1" dirty="0">
                <a:solidFill>
                  <a:srgbClr val="1E1E24"/>
                </a:solidFill>
                <a:latin typeface="Calibri" pitchFamily="34" charset="0"/>
                <a:ea typeface="Calibri" pitchFamily="34" charset="-122"/>
                <a:cs typeface="Calibri" pitchFamily="34" charset="-120"/>
              </a:rPr>
              <a:t>Write advanced DAX</a:t>
            </a:r>
            <a:endParaRPr lang="en-US" sz="2000" dirty="0"/>
          </a:p>
        </p:txBody>
      </p:sp>
      <p:sp>
        <p:nvSpPr>
          <p:cNvPr id="11" name="Shape 8"/>
          <p:cNvSpPr/>
          <p:nvPr/>
        </p:nvSpPr>
        <p:spPr>
          <a:xfrm>
            <a:off x="8458200" y="1554480"/>
            <a:ext cx="3154680" cy="182880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2" name="Shape 9"/>
          <p:cNvSpPr/>
          <p:nvPr/>
        </p:nvSpPr>
        <p:spPr>
          <a:xfrm>
            <a:off x="8778240" y="1874520"/>
            <a:ext cx="731520" cy="731520"/>
          </a:xfrm>
          <a:prstGeom prst="ellipse">
            <a:avLst/>
          </a:prstGeom>
          <a:solidFill>
            <a:srgbClr val="F2C811"/>
          </a:solidFill>
          <a:ln w="12700">
            <a:solidFill>
              <a:srgbClr val="F2C811"/>
            </a:solidFill>
            <a:prstDash val="solid"/>
          </a:ln>
        </p:spPr>
      </p:sp>
      <p:pic>
        <p:nvPicPr>
          <p:cNvPr id="13" name="Image 1" descr="preencoded.png"/>
          <p:cNvPicPr>
            <a:picLocks noChangeAspect="1"/>
          </p:cNvPicPr>
          <p:nvPr/>
        </p:nvPicPr>
        <p:blipFill>
          <a:blip r:embed="rId4"/>
          <a:stretch>
            <a:fillRect/>
          </a:stretch>
        </p:blipFill>
        <p:spPr>
          <a:xfrm>
            <a:off x="8968435" y="2064715"/>
            <a:ext cx="351130" cy="351130"/>
          </a:xfrm>
          <a:prstGeom prst="rect">
            <a:avLst/>
          </a:prstGeom>
        </p:spPr>
      </p:pic>
      <p:sp>
        <p:nvSpPr>
          <p:cNvPr id="14" name="Text 10"/>
          <p:cNvSpPr txBox="1"/>
          <p:nvPr/>
        </p:nvSpPr>
        <p:spPr>
          <a:xfrm>
            <a:off x="8778240" y="2743200"/>
            <a:ext cx="2514600" cy="457200"/>
          </a:xfrm>
          <a:prstGeom prst="rect">
            <a:avLst/>
          </a:prstGeom>
          <a:noFill/>
          <a:ln/>
        </p:spPr>
        <p:txBody>
          <a:bodyPr wrap="square" lIns="0" tIns="0" rIns="0" bIns="0" rtlCol="0" anchor="t"/>
          <a:lstStyle/>
          <a:p>
            <a:pPr marL="0" indent="0">
              <a:buNone/>
            </a:pPr>
            <a:r>
              <a:rPr lang="en-US" sz="2000" b="1" dirty="0">
                <a:solidFill>
                  <a:srgbClr val="1E1E24"/>
                </a:solidFill>
                <a:latin typeface="Calibri" pitchFamily="34" charset="0"/>
                <a:ea typeface="Calibri" pitchFamily="34" charset="-122"/>
                <a:cs typeface="Calibri" pitchFamily="34" charset="-120"/>
              </a:rPr>
              <a:t>Own the datasets</a:t>
            </a:r>
            <a:endParaRPr lang="en-US" sz="2000" dirty="0"/>
          </a:p>
        </p:txBody>
      </p:sp>
      <p:sp>
        <p:nvSpPr>
          <p:cNvPr id="15" name="Shape 11"/>
          <p:cNvSpPr/>
          <p:nvPr/>
        </p:nvSpPr>
        <p:spPr>
          <a:xfrm>
            <a:off x="5029200" y="3657600"/>
            <a:ext cx="3154680" cy="182880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16" name="Shape 12"/>
          <p:cNvSpPr/>
          <p:nvPr/>
        </p:nvSpPr>
        <p:spPr>
          <a:xfrm>
            <a:off x="5349240" y="3977640"/>
            <a:ext cx="731520" cy="731520"/>
          </a:xfrm>
          <a:prstGeom prst="ellipse">
            <a:avLst/>
          </a:prstGeom>
          <a:solidFill>
            <a:srgbClr val="F2C811"/>
          </a:solidFill>
          <a:ln w="12700">
            <a:solidFill>
              <a:srgbClr val="F2C811"/>
            </a:solidFill>
            <a:prstDash val="solid"/>
          </a:ln>
        </p:spPr>
      </p:sp>
      <p:pic>
        <p:nvPicPr>
          <p:cNvPr id="17" name="Image 2" descr="preencoded.png"/>
          <p:cNvPicPr>
            <a:picLocks noChangeAspect="1"/>
          </p:cNvPicPr>
          <p:nvPr/>
        </p:nvPicPr>
        <p:blipFill>
          <a:blip r:embed="rId5"/>
          <a:stretch>
            <a:fillRect/>
          </a:stretch>
        </p:blipFill>
        <p:spPr>
          <a:xfrm>
            <a:off x="5539435" y="4167835"/>
            <a:ext cx="351130" cy="351130"/>
          </a:xfrm>
          <a:prstGeom prst="rect">
            <a:avLst/>
          </a:prstGeom>
        </p:spPr>
      </p:pic>
      <p:sp>
        <p:nvSpPr>
          <p:cNvPr id="18" name="Text 13"/>
          <p:cNvSpPr txBox="1"/>
          <p:nvPr/>
        </p:nvSpPr>
        <p:spPr>
          <a:xfrm>
            <a:off x="5349240" y="4846320"/>
            <a:ext cx="2514600" cy="457200"/>
          </a:xfrm>
          <a:prstGeom prst="rect">
            <a:avLst/>
          </a:prstGeom>
          <a:noFill/>
          <a:ln/>
        </p:spPr>
        <p:txBody>
          <a:bodyPr wrap="square" lIns="0" tIns="0" rIns="0" bIns="0" rtlCol="0" anchor="t"/>
          <a:lstStyle/>
          <a:p>
            <a:pPr marL="0" indent="0">
              <a:buNone/>
            </a:pPr>
            <a:r>
              <a:rPr lang="en-US" sz="2000" b="1" dirty="0">
                <a:solidFill>
                  <a:srgbClr val="1E1E24"/>
                </a:solidFill>
                <a:latin typeface="Calibri" pitchFamily="34" charset="0"/>
                <a:ea typeface="Calibri" pitchFamily="34" charset="-122"/>
                <a:cs typeface="Calibri" pitchFamily="34" charset="-120"/>
              </a:rPr>
              <a:t>Manage refresh</a:t>
            </a:r>
            <a:endParaRPr lang="en-US" sz="2000" dirty="0"/>
          </a:p>
        </p:txBody>
      </p:sp>
      <p:sp>
        <p:nvSpPr>
          <p:cNvPr id="19" name="Shape 14"/>
          <p:cNvSpPr/>
          <p:nvPr/>
        </p:nvSpPr>
        <p:spPr>
          <a:xfrm>
            <a:off x="8458200" y="3657600"/>
            <a:ext cx="3154680" cy="1828800"/>
          </a:xfrm>
          <a:prstGeom prst="rect">
            <a:avLst/>
          </a:prstGeom>
          <a:solidFill>
            <a:srgbClr val="FFFFFF"/>
          </a:solidFill>
          <a:ln w="12700">
            <a:solidFill>
              <a:srgbClr val="FFFFFF"/>
            </a:solidFill>
            <a:prstDash val="solid"/>
          </a:ln>
          <a:effectLst>
            <a:outerShdw blurRad="76200" dist="25400" dir="5400000" algn="bl" rotWithShape="0">
              <a:srgbClr val="000000">
                <a:alpha val="12000"/>
              </a:srgbClr>
            </a:outerShdw>
          </a:effectLst>
        </p:spPr>
      </p:sp>
      <p:sp>
        <p:nvSpPr>
          <p:cNvPr id="20" name="Shape 15"/>
          <p:cNvSpPr/>
          <p:nvPr/>
        </p:nvSpPr>
        <p:spPr>
          <a:xfrm>
            <a:off x="8778240" y="3977640"/>
            <a:ext cx="731520" cy="731520"/>
          </a:xfrm>
          <a:prstGeom prst="ellipse">
            <a:avLst/>
          </a:prstGeom>
          <a:solidFill>
            <a:srgbClr val="F2C811"/>
          </a:solidFill>
          <a:ln w="12700">
            <a:solidFill>
              <a:srgbClr val="F2C811"/>
            </a:solidFill>
            <a:prstDash val="solid"/>
          </a:ln>
        </p:spPr>
      </p:sp>
      <p:pic>
        <p:nvPicPr>
          <p:cNvPr id="21" name="Image 3" descr="preencoded.png"/>
          <p:cNvPicPr>
            <a:picLocks noChangeAspect="1"/>
          </p:cNvPicPr>
          <p:nvPr/>
        </p:nvPicPr>
        <p:blipFill>
          <a:blip r:embed="rId6"/>
          <a:stretch>
            <a:fillRect/>
          </a:stretch>
        </p:blipFill>
        <p:spPr>
          <a:xfrm>
            <a:off x="8968435" y="4167835"/>
            <a:ext cx="351130" cy="351130"/>
          </a:xfrm>
          <a:prstGeom prst="rect">
            <a:avLst/>
          </a:prstGeom>
        </p:spPr>
      </p:pic>
      <p:sp>
        <p:nvSpPr>
          <p:cNvPr id="22" name="Text 16"/>
          <p:cNvSpPr txBox="1"/>
          <p:nvPr/>
        </p:nvSpPr>
        <p:spPr>
          <a:xfrm>
            <a:off x="8778240" y="4846320"/>
            <a:ext cx="2514600" cy="457200"/>
          </a:xfrm>
          <a:prstGeom prst="rect">
            <a:avLst/>
          </a:prstGeom>
          <a:noFill/>
          <a:ln/>
        </p:spPr>
        <p:txBody>
          <a:bodyPr wrap="square" lIns="0" tIns="0" rIns="0" bIns="0" rtlCol="0" anchor="t"/>
          <a:lstStyle/>
          <a:p>
            <a:pPr marL="0" indent="0">
              <a:buNone/>
            </a:pPr>
            <a:r>
              <a:rPr lang="en-US" sz="2000" b="1" dirty="0">
                <a:solidFill>
                  <a:srgbClr val="1E1E24"/>
                </a:solidFill>
                <a:latin typeface="Calibri" pitchFamily="34" charset="0"/>
                <a:ea typeface="Calibri" pitchFamily="34" charset="-122"/>
                <a:cs typeface="Calibri" pitchFamily="34" charset="-120"/>
              </a:rPr>
              <a:t>Set up security</a:t>
            </a:r>
            <a:endParaRPr lang="en-US" sz="2000" dirty="0"/>
          </a:p>
        </p:txBody>
      </p:sp>
      <p:sp>
        <p:nvSpPr>
          <p:cNvPr id="23" name="Text 17"/>
          <p:cNvSpPr txBox="1"/>
          <p:nvPr/>
        </p:nvSpPr>
        <p:spPr>
          <a:xfrm>
            <a:off x="5029200" y="5989320"/>
            <a:ext cx="6583680" cy="365760"/>
          </a:xfrm>
          <a:prstGeom prst="rect">
            <a:avLst/>
          </a:prstGeom>
          <a:noFill/>
          <a:ln/>
        </p:spPr>
        <p:txBody>
          <a:bodyPr wrap="square" lIns="0" tIns="0" rIns="0" bIns="0" rtlCol="0" anchor="t"/>
          <a:lstStyle/>
          <a:p>
            <a:pPr marL="0" indent="0">
              <a:buNone/>
            </a:pPr>
            <a:r>
              <a:rPr lang="en-US" sz="1600" i="1" dirty="0">
                <a:solidFill>
                  <a:srgbClr val="6B7280"/>
                </a:solidFill>
                <a:latin typeface="Calibri" pitchFamily="34" charset="0"/>
                <a:ea typeface="Calibri" pitchFamily="34" charset="-122"/>
                <a:cs typeface="Calibri" pitchFamily="34" charset="-120"/>
              </a:rPr>
              <a:t>The full 30-day plan targets this group.</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11064240" cy="731520"/>
          </a:xfrm>
          <a:prstGeom prst="rect">
            <a:avLst/>
          </a:prstGeom>
          <a:noFill/>
          <a:ln/>
        </p:spPr>
        <p:txBody>
          <a:bodyPr wrap="square" lIns="0" tIns="0" rIns="0" bIns="0" rtlCol="0" anchor="t"/>
          <a:lstStyle/>
          <a:p>
            <a:pPr marL="0" indent="0">
              <a:buNone/>
            </a:pPr>
            <a:r>
              <a:rPr lang="en-US" sz="3600" b="1" dirty="0">
                <a:solidFill>
                  <a:srgbClr val="1E1E24"/>
                </a:solidFill>
                <a:latin typeface="Cambria" pitchFamily="34" charset="0"/>
                <a:ea typeface="Cambria" pitchFamily="34" charset="-122"/>
                <a:cs typeface="Cambria" pitchFamily="34" charset="-120"/>
              </a:rPr>
              <a:t>Two practical points for any tier</a:t>
            </a:r>
            <a:endParaRPr lang="en-US" sz="3600" dirty="0"/>
          </a:p>
        </p:txBody>
      </p:sp>
      <p:sp>
        <p:nvSpPr>
          <p:cNvPr id="3" name="Shape 1"/>
          <p:cNvSpPr/>
          <p:nvPr/>
        </p:nvSpPr>
        <p:spPr>
          <a:xfrm>
            <a:off x="548640" y="1463040"/>
            <a:ext cx="5440680" cy="4846320"/>
          </a:xfrm>
          <a:prstGeom prst="roundRect">
            <a:avLst>
              <a:gd name="adj" fmla="val 2264"/>
            </a:avLst>
          </a:prstGeom>
          <a:solidFill>
            <a:srgbClr val="F3F4F6"/>
          </a:solidFill>
          <a:ln w="12700">
            <a:solidFill>
              <a:srgbClr val="F3F4F6"/>
            </a:solidFill>
            <a:prstDash val="solid"/>
          </a:ln>
        </p:spPr>
      </p:sp>
      <p:sp>
        <p:nvSpPr>
          <p:cNvPr id="4" name="Shape 2"/>
          <p:cNvSpPr/>
          <p:nvPr/>
        </p:nvSpPr>
        <p:spPr>
          <a:xfrm>
            <a:off x="914400" y="1783080"/>
            <a:ext cx="731520" cy="731520"/>
          </a:xfrm>
          <a:prstGeom prst="ellipse">
            <a:avLst/>
          </a:prstGeom>
          <a:solidFill>
            <a:srgbClr val="F2C811"/>
          </a:solidFill>
          <a:ln w="12700">
            <a:solidFill>
              <a:srgbClr val="F2C811"/>
            </a:solidFill>
            <a:prstDash val="solid"/>
          </a:ln>
        </p:spPr>
      </p:sp>
      <p:pic>
        <p:nvPicPr>
          <p:cNvPr id="5" name="Image 0" descr="preencoded.png"/>
          <p:cNvPicPr>
            <a:picLocks noChangeAspect="1"/>
          </p:cNvPicPr>
          <p:nvPr/>
        </p:nvPicPr>
        <p:blipFill>
          <a:blip r:embed="rId3"/>
          <a:stretch>
            <a:fillRect/>
          </a:stretch>
        </p:blipFill>
        <p:spPr>
          <a:xfrm>
            <a:off x="1104595" y="1973275"/>
            <a:ext cx="351130" cy="351130"/>
          </a:xfrm>
          <a:prstGeom prst="rect">
            <a:avLst/>
          </a:prstGeom>
        </p:spPr>
      </p:pic>
      <p:sp>
        <p:nvSpPr>
          <p:cNvPr id="6" name="Text 3"/>
          <p:cNvSpPr txBox="1"/>
          <p:nvPr/>
        </p:nvSpPr>
        <p:spPr>
          <a:xfrm>
            <a:off x="1874520" y="1783080"/>
            <a:ext cx="3840480" cy="731520"/>
          </a:xfrm>
          <a:prstGeom prst="rect">
            <a:avLst/>
          </a:prstGeom>
          <a:noFill/>
          <a:ln/>
        </p:spPr>
        <p:txBody>
          <a:bodyPr wrap="square" lIns="0" tIns="0" rIns="0" bIns="0" rtlCol="0" anchor="ctr"/>
          <a:lstStyle/>
          <a:p>
            <a:pPr marL="0" indent="0">
              <a:buNone/>
            </a:pPr>
            <a:r>
              <a:rPr lang="en-US" sz="2200" b="1" dirty="0">
                <a:solidFill>
                  <a:srgbClr val="1E1E24"/>
                </a:solidFill>
                <a:latin typeface="Cambria" pitchFamily="34" charset="0"/>
                <a:ea typeface="Cambria" pitchFamily="34" charset="-122"/>
                <a:cs typeface="Cambria" pitchFamily="34" charset="-120"/>
              </a:rPr>
              <a:t>Spread the schedule</a:t>
            </a:r>
            <a:endParaRPr lang="en-US" sz="2200" dirty="0"/>
          </a:p>
        </p:txBody>
      </p:sp>
      <p:sp>
        <p:nvSpPr>
          <p:cNvPr id="7" name="Text 4"/>
          <p:cNvSpPr txBox="1"/>
          <p:nvPr/>
        </p:nvSpPr>
        <p:spPr>
          <a:xfrm>
            <a:off x="914400" y="2788920"/>
            <a:ext cx="4709160" cy="822960"/>
          </a:xfrm>
          <a:prstGeom prst="rect">
            <a:avLst/>
          </a:prstGeom>
          <a:noFill/>
          <a:ln/>
        </p:spPr>
        <p:txBody>
          <a:bodyPr wrap="square" lIns="0" tIns="0" rIns="0" bIns="0" rtlCol="0" anchor="ctr"/>
          <a:lstStyle/>
          <a:p>
            <a:pPr marL="0" indent="0">
              <a:buNone/>
            </a:pPr>
            <a:r>
              <a:rPr lang="en-US" sz="4400" b="1" dirty="0">
                <a:solidFill>
                  <a:srgbClr val="1E1E24"/>
                </a:solidFill>
                <a:latin typeface="Cambria" pitchFamily="34" charset="0"/>
                <a:ea typeface="Cambria" pitchFamily="34" charset="-122"/>
                <a:cs typeface="Cambria" pitchFamily="34" charset="-120"/>
              </a:rPr>
              <a:t>6–8 weeks</a:t>
            </a:r>
            <a:endParaRPr lang="en-US" sz="4400" dirty="0"/>
          </a:p>
        </p:txBody>
      </p:sp>
      <p:sp>
        <p:nvSpPr>
          <p:cNvPr id="8" name="Text 5"/>
          <p:cNvSpPr txBox="1"/>
          <p:nvPr/>
        </p:nvSpPr>
        <p:spPr>
          <a:xfrm>
            <a:off x="914400" y="3749040"/>
            <a:ext cx="4709160" cy="1371600"/>
          </a:xfrm>
          <a:prstGeom prst="rect">
            <a:avLst/>
          </a:prstGeom>
          <a:noFill/>
          <a:ln/>
        </p:spPr>
        <p:txBody>
          <a:bodyPr wrap="square" lIns="0" tIns="0" rIns="0" bIns="0" rtlCol="0" anchor="t"/>
          <a:lstStyle/>
          <a:p>
            <a:pPr marL="0" indent="0">
              <a:buNone/>
            </a:pPr>
            <a:r>
              <a:rPr lang="en-US" sz="1500" dirty="0">
                <a:solidFill>
                  <a:srgbClr val="1F2937"/>
                </a:solidFill>
                <a:latin typeface="Calibri" pitchFamily="34" charset="0"/>
                <a:ea typeface="Calibri" pitchFamily="34" charset="-122"/>
                <a:cs typeface="Calibri" pitchFamily="34" charset="-120"/>
              </a:rPr>
              <a:t>Thirty consecutive days is hard for people with day jobs. Spread the same 60 hours over 6 to 8 weeks of weekdays, at three or four sessions a week, with protected time agreed with managers.</a:t>
            </a:r>
            <a:endParaRPr lang="en-US" sz="1500" dirty="0"/>
          </a:p>
        </p:txBody>
      </p:sp>
      <p:sp>
        <p:nvSpPr>
          <p:cNvPr id="9" name="Text 6"/>
          <p:cNvSpPr txBox="1"/>
          <p:nvPr/>
        </p:nvSpPr>
        <p:spPr>
          <a:xfrm>
            <a:off x="914400" y="5257800"/>
            <a:ext cx="4709160" cy="822960"/>
          </a:xfrm>
          <a:prstGeom prst="rect">
            <a:avLst/>
          </a:prstGeom>
          <a:noFill/>
          <a:ln/>
        </p:spPr>
        <p:txBody>
          <a:bodyPr wrap="square" lIns="0" tIns="0" rIns="0" bIns="0" rtlCol="0" anchor="t"/>
          <a:lstStyle/>
          <a:p>
            <a:pPr marL="0" indent="0">
              <a:buNone/>
            </a:pPr>
            <a:r>
              <a:rPr lang="en-US" sz="1200" i="1" dirty="0">
                <a:solidFill>
                  <a:srgbClr val="6B7280"/>
                </a:solidFill>
                <a:latin typeface="Calibri" pitchFamily="34" charset="0"/>
                <a:ea typeface="Calibri" pitchFamily="34" charset="-122"/>
                <a:cs typeface="Calibri" pitchFamily="34" charset="-120"/>
              </a:rPr>
              <a:t>The original plan runs 21 Sep to 20 Oct, weekends included. Completion rates drop sharply when training competes with live work.</a:t>
            </a:r>
            <a:endParaRPr lang="en-US" sz="1200" dirty="0"/>
          </a:p>
        </p:txBody>
      </p:sp>
      <p:sp>
        <p:nvSpPr>
          <p:cNvPr id="10" name="Shape 7"/>
          <p:cNvSpPr/>
          <p:nvPr/>
        </p:nvSpPr>
        <p:spPr>
          <a:xfrm>
            <a:off x="6199632" y="1463040"/>
            <a:ext cx="5440680" cy="4846320"/>
          </a:xfrm>
          <a:prstGeom prst="roundRect">
            <a:avLst>
              <a:gd name="adj" fmla="val 2264"/>
            </a:avLst>
          </a:prstGeom>
          <a:solidFill>
            <a:srgbClr val="F3F4F6"/>
          </a:solidFill>
          <a:ln w="12700">
            <a:solidFill>
              <a:srgbClr val="F3F4F6"/>
            </a:solidFill>
            <a:prstDash val="solid"/>
          </a:ln>
        </p:spPr>
      </p:sp>
      <p:sp>
        <p:nvSpPr>
          <p:cNvPr id="11" name="Shape 8"/>
          <p:cNvSpPr/>
          <p:nvPr/>
        </p:nvSpPr>
        <p:spPr>
          <a:xfrm>
            <a:off x="6565392" y="1783080"/>
            <a:ext cx="731520" cy="731520"/>
          </a:xfrm>
          <a:prstGeom prst="ellipse">
            <a:avLst/>
          </a:prstGeom>
          <a:solidFill>
            <a:srgbClr val="F2C811"/>
          </a:solidFill>
          <a:ln w="12700">
            <a:solidFill>
              <a:srgbClr val="F2C811"/>
            </a:solidFill>
            <a:prstDash val="solid"/>
          </a:ln>
        </p:spPr>
      </p:sp>
      <p:pic>
        <p:nvPicPr>
          <p:cNvPr id="12" name="Image 1" descr="preencoded.png"/>
          <p:cNvPicPr>
            <a:picLocks noChangeAspect="1"/>
          </p:cNvPicPr>
          <p:nvPr/>
        </p:nvPicPr>
        <p:blipFill>
          <a:blip r:embed="rId4"/>
          <a:stretch>
            <a:fillRect/>
          </a:stretch>
        </p:blipFill>
        <p:spPr>
          <a:xfrm>
            <a:off x="6755587" y="1973275"/>
            <a:ext cx="351130" cy="351130"/>
          </a:xfrm>
          <a:prstGeom prst="rect">
            <a:avLst/>
          </a:prstGeom>
        </p:spPr>
      </p:pic>
      <p:sp>
        <p:nvSpPr>
          <p:cNvPr id="13" name="Text 9"/>
          <p:cNvSpPr txBox="1"/>
          <p:nvPr/>
        </p:nvSpPr>
        <p:spPr>
          <a:xfrm>
            <a:off x="7525512" y="1783080"/>
            <a:ext cx="3840480" cy="731520"/>
          </a:xfrm>
          <a:prstGeom prst="rect">
            <a:avLst/>
          </a:prstGeom>
          <a:noFill/>
          <a:ln/>
        </p:spPr>
        <p:txBody>
          <a:bodyPr wrap="square" lIns="0" tIns="0" rIns="0" bIns="0" rtlCol="0" anchor="ctr"/>
          <a:lstStyle/>
          <a:p>
            <a:pPr marL="0" indent="0">
              <a:buNone/>
            </a:pPr>
            <a:r>
              <a:rPr lang="en-US" sz="2200" b="1" dirty="0">
                <a:solidFill>
                  <a:srgbClr val="1E1E24"/>
                </a:solidFill>
                <a:latin typeface="Cambria" pitchFamily="34" charset="0"/>
                <a:ea typeface="Cambria" pitchFamily="34" charset="-122"/>
                <a:cs typeface="Cambria" pitchFamily="34" charset="-120"/>
              </a:rPr>
              <a:t>Use company data in labs</a:t>
            </a:r>
            <a:endParaRPr lang="en-US" sz="2200" dirty="0"/>
          </a:p>
        </p:txBody>
      </p:sp>
      <p:sp>
        <p:nvSpPr>
          <p:cNvPr id="14" name="Text 10"/>
          <p:cNvSpPr txBox="1"/>
          <p:nvPr/>
        </p:nvSpPr>
        <p:spPr>
          <a:xfrm>
            <a:off x="6565392" y="2788920"/>
            <a:ext cx="4709160" cy="822960"/>
          </a:xfrm>
          <a:prstGeom prst="rect">
            <a:avLst/>
          </a:prstGeom>
          <a:noFill/>
          <a:ln/>
        </p:spPr>
        <p:txBody>
          <a:bodyPr wrap="square" lIns="0" tIns="0" rIns="0" bIns="0" rtlCol="0" anchor="ctr"/>
          <a:lstStyle/>
          <a:p>
            <a:pPr marL="0" indent="0">
              <a:buNone/>
            </a:pPr>
            <a:r>
              <a:rPr lang="en-US" sz="4400" b="1" dirty="0">
                <a:solidFill>
                  <a:srgbClr val="1E1E24"/>
                </a:solidFill>
                <a:latin typeface="Cambria" pitchFamily="34" charset="0"/>
                <a:ea typeface="Cambria" pitchFamily="34" charset="-122"/>
                <a:cs typeface="Cambria" pitchFamily="34" charset="-120"/>
              </a:rPr>
              <a:t>Own reports</a:t>
            </a:r>
            <a:endParaRPr lang="en-US" sz="4400" dirty="0"/>
          </a:p>
        </p:txBody>
      </p:sp>
      <p:sp>
        <p:nvSpPr>
          <p:cNvPr id="15" name="Text 11"/>
          <p:cNvSpPr txBox="1"/>
          <p:nvPr/>
        </p:nvSpPr>
        <p:spPr>
          <a:xfrm>
            <a:off x="6565392" y="3749040"/>
            <a:ext cx="4709160" cy="1371600"/>
          </a:xfrm>
          <a:prstGeom prst="rect">
            <a:avLst/>
          </a:prstGeom>
          <a:noFill/>
          <a:ln/>
        </p:spPr>
        <p:txBody>
          <a:bodyPr wrap="square" lIns="0" tIns="0" rIns="0" bIns="0" rtlCol="0" anchor="t"/>
          <a:lstStyle/>
          <a:p>
            <a:pPr marL="0" indent="0">
              <a:buNone/>
            </a:pPr>
            <a:r>
              <a:rPr lang="en-US" sz="1500" dirty="0">
                <a:solidFill>
                  <a:srgbClr val="1F2937"/>
                </a:solidFill>
                <a:latin typeface="Calibri" pitchFamily="34" charset="0"/>
                <a:ea typeface="Calibri" pitchFamily="34" charset="-122"/>
                <a:cs typeface="Calibri" pitchFamily="34" charset="-120"/>
              </a:rPr>
              <a:t>Employees retain far more when exercises use their own sales, finance or operations reports than when they use a sample dataset.</a:t>
            </a:r>
            <a:endParaRPr lang="en-US" sz="1500" dirty="0"/>
          </a:p>
        </p:txBody>
      </p:sp>
      <p:sp>
        <p:nvSpPr>
          <p:cNvPr id="16" name="Shape 12"/>
          <p:cNvSpPr/>
          <p:nvPr/>
        </p:nvSpPr>
        <p:spPr>
          <a:xfrm>
            <a:off x="6565392" y="5349240"/>
            <a:ext cx="1417320" cy="457200"/>
          </a:xfrm>
          <a:prstGeom prst="roundRect">
            <a:avLst>
              <a:gd name="adj" fmla="val 50000"/>
            </a:avLst>
          </a:prstGeom>
          <a:solidFill>
            <a:srgbClr val="F2C811"/>
          </a:solidFill>
          <a:ln w="12700">
            <a:solidFill>
              <a:srgbClr val="F2C811"/>
            </a:solidFill>
            <a:prstDash val="solid"/>
          </a:ln>
        </p:spPr>
      </p:sp>
      <p:sp>
        <p:nvSpPr>
          <p:cNvPr id="17" name="Text 13"/>
          <p:cNvSpPr txBox="1"/>
          <p:nvPr/>
        </p:nvSpPr>
        <p:spPr>
          <a:xfrm>
            <a:off x="6565392" y="5349240"/>
            <a:ext cx="1417320" cy="457200"/>
          </a:xfrm>
          <a:prstGeom prst="rect">
            <a:avLst/>
          </a:prstGeom>
          <a:noFill/>
          <a:ln/>
        </p:spPr>
        <p:txBody>
          <a:bodyPr wrap="square" lIns="0" tIns="0" rIns="0" bIns="0" rtlCol="0" anchor="ctr"/>
          <a:lstStyle/>
          <a:p>
            <a:pPr marL="0" indent="0" algn="ctr">
              <a:buNone/>
            </a:pPr>
            <a:r>
              <a:rPr lang="en-US" sz="1400" b="1" dirty="0">
                <a:solidFill>
                  <a:srgbClr val="1E1E24"/>
                </a:solidFill>
                <a:latin typeface="Calibri" pitchFamily="34" charset="0"/>
                <a:ea typeface="Calibri" pitchFamily="34" charset="-122"/>
                <a:cs typeface="Calibri" pitchFamily="34" charset="-120"/>
              </a:rPr>
              <a:t>Sales</a:t>
            </a:r>
            <a:endParaRPr lang="en-US" sz="1400" dirty="0"/>
          </a:p>
        </p:txBody>
      </p:sp>
      <p:sp>
        <p:nvSpPr>
          <p:cNvPr id="18" name="Shape 14"/>
          <p:cNvSpPr/>
          <p:nvPr/>
        </p:nvSpPr>
        <p:spPr>
          <a:xfrm>
            <a:off x="8165592" y="5349240"/>
            <a:ext cx="1417320" cy="457200"/>
          </a:xfrm>
          <a:prstGeom prst="roundRect">
            <a:avLst>
              <a:gd name="adj" fmla="val 50000"/>
            </a:avLst>
          </a:prstGeom>
          <a:solidFill>
            <a:srgbClr val="F2C811"/>
          </a:solidFill>
          <a:ln w="12700">
            <a:solidFill>
              <a:srgbClr val="F2C811"/>
            </a:solidFill>
            <a:prstDash val="solid"/>
          </a:ln>
        </p:spPr>
      </p:sp>
      <p:sp>
        <p:nvSpPr>
          <p:cNvPr id="19" name="Text 15"/>
          <p:cNvSpPr txBox="1"/>
          <p:nvPr/>
        </p:nvSpPr>
        <p:spPr>
          <a:xfrm>
            <a:off x="8165592" y="5349240"/>
            <a:ext cx="1417320" cy="457200"/>
          </a:xfrm>
          <a:prstGeom prst="rect">
            <a:avLst/>
          </a:prstGeom>
          <a:noFill/>
          <a:ln/>
        </p:spPr>
        <p:txBody>
          <a:bodyPr wrap="square" lIns="0" tIns="0" rIns="0" bIns="0" rtlCol="0" anchor="ctr"/>
          <a:lstStyle/>
          <a:p>
            <a:pPr marL="0" indent="0" algn="ctr">
              <a:buNone/>
            </a:pPr>
            <a:r>
              <a:rPr lang="en-US" sz="1400" b="1" dirty="0">
                <a:solidFill>
                  <a:srgbClr val="1E1E24"/>
                </a:solidFill>
                <a:latin typeface="Calibri" pitchFamily="34" charset="0"/>
                <a:ea typeface="Calibri" pitchFamily="34" charset="-122"/>
                <a:cs typeface="Calibri" pitchFamily="34" charset="-120"/>
              </a:rPr>
              <a:t>Finance</a:t>
            </a:r>
            <a:endParaRPr lang="en-US" sz="1400" dirty="0"/>
          </a:p>
        </p:txBody>
      </p:sp>
      <p:sp>
        <p:nvSpPr>
          <p:cNvPr id="20" name="Shape 16"/>
          <p:cNvSpPr/>
          <p:nvPr/>
        </p:nvSpPr>
        <p:spPr>
          <a:xfrm>
            <a:off x="9765792" y="5349240"/>
            <a:ext cx="1417320" cy="457200"/>
          </a:xfrm>
          <a:prstGeom prst="roundRect">
            <a:avLst>
              <a:gd name="adj" fmla="val 50000"/>
            </a:avLst>
          </a:prstGeom>
          <a:solidFill>
            <a:srgbClr val="F2C811"/>
          </a:solidFill>
          <a:ln w="12700">
            <a:solidFill>
              <a:srgbClr val="F2C811"/>
            </a:solidFill>
            <a:prstDash val="solid"/>
          </a:ln>
        </p:spPr>
      </p:sp>
      <p:sp>
        <p:nvSpPr>
          <p:cNvPr id="21" name="Text 17"/>
          <p:cNvSpPr txBox="1"/>
          <p:nvPr/>
        </p:nvSpPr>
        <p:spPr>
          <a:xfrm>
            <a:off x="9765792" y="5349240"/>
            <a:ext cx="1417320" cy="457200"/>
          </a:xfrm>
          <a:prstGeom prst="rect">
            <a:avLst/>
          </a:prstGeom>
          <a:noFill/>
          <a:ln/>
        </p:spPr>
        <p:txBody>
          <a:bodyPr wrap="square" lIns="0" tIns="0" rIns="0" bIns="0" rtlCol="0" anchor="ctr"/>
          <a:lstStyle/>
          <a:p>
            <a:pPr marL="0" indent="0" algn="ctr">
              <a:buNone/>
            </a:pPr>
            <a:r>
              <a:rPr lang="en-US" sz="1400" b="1" dirty="0">
                <a:solidFill>
                  <a:srgbClr val="1E1E24"/>
                </a:solidFill>
                <a:latin typeface="Calibri" pitchFamily="34" charset="0"/>
                <a:ea typeface="Calibri" pitchFamily="34" charset="-122"/>
                <a:cs typeface="Calibri" pitchFamily="34" charset="-120"/>
              </a:rPr>
              <a:t>Operations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1E24"/>
        </a:solidFill>
        <a:effectLst/>
      </p:bgPr>
    </p:bg>
    <p:spTree>
      <p:nvGrpSpPr>
        <p:cNvPr id="1" name=""/>
        <p:cNvGrpSpPr/>
        <p:nvPr/>
      </p:nvGrpSpPr>
      <p:grpSpPr>
        <a:xfrm>
          <a:off x="0" y="0"/>
          <a:ext cx="0" cy="0"/>
          <a:chOff x="0" y="0"/>
          <a:chExt cx="0" cy="0"/>
        </a:xfrm>
      </p:grpSpPr>
      <p:sp>
        <p:nvSpPr>
          <p:cNvPr id="2" name="Text 0"/>
          <p:cNvSpPr txBox="1"/>
          <p:nvPr/>
        </p:nvSpPr>
        <p:spPr>
          <a:xfrm>
            <a:off x="640080" y="640080"/>
            <a:ext cx="10972800" cy="822960"/>
          </a:xfrm>
          <a:prstGeom prst="rect">
            <a:avLst/>
          </a:prstGeom>
          <a:noFill/>
          <a:ln/>
        </p:spPr>
        <p:txBody>
          <a:bodyPr wrap="square" lIns="0" tIns="0" rIns="0" bIns="0" rtlCol="0" anchor="t"/>
          <a:lstStyle/>
          <a:p>
            <a:pPr marL="0" indent="0">
              <a:buNone/>
            </a:pPr>
            <a:r>
              <a:rPr lang="en-US" sz="3800" b="1" dirty="0">
                <a:solidFill>
                  <a:srgbClr val="FFFFFF"/>
                </a:solidFill>
                <a:latin typeface="Cambria" pitchFamily="34" charset="0"/>
                <a:ea typeface="Cambria" pitchFamily="34" charset="-122"/>
                <a:cs typeface="Cambria" pitchFamily="34" charset="-120"/>
              </a:rPr>
              <a:t>Most employees will get there with Tier 2</a:t>
            </a:r>
            <a:endParaRPr lang="en-US" sz="3800" dirty="0"/>
          </a:p>
        </p:txBody>
      </p:sp>
      <p:sp>
        <p:nvSpPr>
          <p:cNvPr id="3" name="Text 1"/>
          <p:cNvSpPr txBox="1"/>
          <p:nvPr/>
        </p:nvSpPr>
        <p:spPr>
          <a:xfrm>
            <a:off x="640080" y="1691640"/>
            <a:ext cx="10881360" cy="1280160"/>
          </a:xfrm>
          <a:prstGeom prst="rect">
            <a:avLst/>
          </a:prstGeom>
          <a:noFill/>
          <a:ln/>
        </p:spPr>
        <p:txBody>
          <a:bodyPr wrap="square" lIns="0" tIns="0" rIns="0" bIns="0" rtlCol="0" anchor="t"/>
          <a:lstStyle/>
          <a:p>
            <a:pPr marL="0" indent="0">
              <a:buNone/>
            </a:pPr>
            <a:r>
              <a:rPr lang="en-US" sz="2000" dirty="0">
                <a:solidFill>
                  <a:srgbClr val="D1D5DB"/>
                </a:solidFill>
                <a:latin typeface="Calibri" pitchFamily="34" charset="0"/>
                <a:ea typeface="Calibri" pitchFamily="34" charset="-122"/>
                <a:cs typeface="Calibri" pitchFamily="34" charset="-120"/>
              </a:rPr>
              <a:t>If the goal is for employees to be well versed in Power BI, not certified, Tier 2 is enough for most of them. Reserve the full 60 hours for the few people who will build and maintain the company's datasets.</a:t>
            </a:r>
            <a:endParaRPr lang="en-US" sz="2000" dirty="0"/>
          </a:p>
        </p:txBody>
      </p:sp>
      <p:sp>
        <p:nvSpPr>
          <p:cNvPr id="4" name="Shape 2"/>
          <p:cNvSpPr/>
          <p:nvPr/>
        </p:nvSpPr>
        <p:spPr>
          <a:xfrm>
            <a:off x="2194560" y="3840480"/>
            <a:ext cx="1463040" cy="1463040"/>
          </a:xfrm>
          <a:prstGeom prst="ellipse">
            <a:avLst/>
          </a:prstGeom>
          <a:solidFill>
            <a:srgbClr val="2B2B36"/>
          </a:solidFill>
          <a:ln w="19050">
            <a:solidFill>
              <a:srgbClr val="4B5563"/>
            </a:solidFill>
            <a:prstDash val="solid"/>
          </a:ln>
        </p:spPr>
      </p:sp>
      <p:sp>
        <p:nvSpPr>
          <p:cNvPr id="5" name="Text 3"/>
          <p:cNvSpPr txBox="1"/>
          <p:nvPr/>
        </p:nvSpPr>
        <p:spPr>
          <a:xfrm>
            <a:off x="2194560" y="3840480"/>
            <a:ext cx="1463040" cy="14630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Tier 1</a:t>
            </a:r>
            <a:endParaRPr lang="en-US" sz="2000" dirty="0"/>
          </a:p>
        </p:txBody>
      </p:sp>
      <p:sp>
        <p:nvSpPr>
          <p:cNvPr id="6" name="Text 4"/>
          <p:cNvSpPr txBox="1"/>
          <p:nvPr/>
        </p:nvSpPr>
        <p:spPr>
          <a:xfrm>
            <a:off x="1737360" y="5852160"/>
            <a:ext cx="2377440" cy="365760"/>
          </a:xfrm>
          <a:prstGeom prst="rect">
            <a:avLst/>
          </a:prstGeom>
          <a:noFill/>
          <a:ln/>
        </p:spPr>
        <p:txBody>
          <a:bodyPr wrap="square" lIns="0" tIns="0" rIns="0" bIns="0" rtlCol="0" anchor="t"/>
          <a:lstStyle/>
          <a:p>
            <a:pPr marL="0" indent="0" algn="ctr">
              <a:buNone/>
            </a:pPr>
            <a:r>
              <a:rPr lang="en-US" sz="1600" dirty="0">
                <a:solidFill>
                  <a:srgbClr val="D1D5DB"/>
                </a:solidFill>
                <a:latin typeface="Calibri" pitchFamily="34" charset="0"/>
                <a:ea typeface="Calibri" pitchFamily="34" charset="-122"/>
                <a:cs typeface="Calibri" pitchFamily="34" charset="-120"/>
              </a:rPr>
              <a:t>6–8 hours</a:t>
            </a:r>
            <a:endParaRPr lang="en-US" sz="1600" dirty="0"/>
          </a:p>
        </p:txBody>
      </p:sp>
      <p:sp>
        <p:nvSpPr>
          <p:cNvPr id="7" name="Text 5"/>
          <p:cNvSpPr txBox="1"/>
          <p:nvPr/>
        </p:nvSpPr>
        <p:spPr>
          <a:xfrm>
            <a:off x="1463040" y="6217920"/>
            <a:ext cx="2926080" cy="320040"/>
          </a:xfrm>
          <a:prstGeom prst="rect">
            <a:avLst/>
          </a:prstGeom>
          <a:noFill/>
          <a:ln/>
        </p:spPr>
        <p:txBody>
          <a:bodyPr wrap="square" lIns="0" tIns="0" rIns="0" bIns="0" rtlCol="0" anchor="t"/>
          <a:lstStyle/>
          <a:p>
            <a:pPr marL="0" indent="0" algn="ctr">
              <a:buNone/>
            </a:pPr>
            <a:r>
              <a:rPr lang="en-US" sz="1300" dirty="0">
                <a:solidFill>
                  <a:srgbClr val="9CA3AF"/>
                </a:solidFill>
                <a:latin typeface="Calibri" pitchFamily="34" charset="0"/>
                <a:ea typeface="Calibri" pitchFamily="34" charset="-122"/>
                <a:cs typeface="Calibri" pitchFamily="34" charset="-120"/>
              </a:rPr>
              <a:t>Read dashboards</a:t>
            </a:r>
            <a:endParaRPr lang="en-US" sz="1300" dirty="0"/>
          </a:p>
        </p:txBody>
      </p:sp>
      <p:sp>
        <p:nvSpPr>
          <p:cNvPr id="8" name="Shape 6"/>
          <p:cNvSpPr/>
          <p:nvPr/>
        </p:nvSpPr>
        <p:spPr>
          <a:xfrm>
            <a:off x="5001768" y="3474720"/>
            <a:ext cx="2194560" cy="2194560"/>
          </a:xfrm>
          <a:prstGeom prst="ellipse">
            <a:avLst/>
          </a:prstGeom>
          <a:solidFill>
            <a:srgbClr val="F2C811"/>
          </a:solidFill>
          <a:ln w="19050">
            <a:solidFill>
              <a:srgbClr val="F2C811"/>
            </a:solidFill>
            <a:prstDash val="solid"/>
          </a:ln>
        </p:spPr>
      </p:sp>
      <p:sp>
        <p:nvSpPr>
          <p:cNvPr id="9" name="Text 7"/>
          <p:cNvSpPr txBox="1"/>
          <p:nvPr/>
        </p:nvSpPr>
        <p:spPr>
          <a:xfrm>
            <a:off x="5001768" y="3474720"/>
            <a:ext cx="2194560" cy="2194560"/>
          </a:xfrm>
          <a:prstGeom prst="rect">
            <a:avLst/>
          </a:prstGeom>
          <a:noFill/>
          <a:ln/>
        </p:spPr>
        <p:txBody>
          <a:bodyPr wrap="square" lIns="0" tIns="0" rIns="0" bIns="0" rtlCol="0" anchor="ctr"/>
          <a:lstStyle/>
          <a:p>
            <a:pPr marL="0" indent="0" algn="ctr">
              <a:buNone/>
            </a:pPr>
            <a:r>
              <a:rPr lang="en-US" sz="2800" b="1" dirty="0">
                <a:solidFill>
                  <a:srgbClr val="1E1E24"/>
                </a:solidFill>
                <a:latin typeface="Cambria" pitchFamily="34" charset="0"/>
                <a:ea typeface="Cambria" pitchFamily="34" charset="-122"/>
                <a:cs typeface="Cambria" pitchFamily="34" charset="-120"/>
              </a:rPr>
              <a:t>Tier 2</a:t>
            </a:r>
            <a:endParaRPr lang="en-US" sz="2800" dirty="0"/>
          </a:p>
        </p:txBody>
      </p:sp>
      <p:sp>
        <p:nvSpPr>
          <p:cNvPr id="10" name="Text 8"/>
          <p:cNvSpPr txBox="1"/>
          <p:nvPr/>
        </p:nvSpPr>
        <p:spPr>
          <a:xfrm>
            <a:off x="4544568" y="5852160"/>
            <a:ext cx="3108960" cy="365760"/>
          </a:xfrm>
          <a:prstGeom prst="rect">
            <a:avLst/>
          </a:prstGeom>
          <a:noFill/>
          <a:ln/>
        </p:spPr>
        <p:txBody>
          <a:bodyPr wrap="square" lIns="0" tIns="0" rIns="0" bIns="0" rtlCol="0" anchor="t"/>
          <a:lstStyle/>
          <a:p>
            <a:pPr marL="0" indent="0" algn="ctr">
              <a:buNone/>
            </a:pPr>
            <a:r>
              <a:rPr lang="en-US" sz="1600" b="1" dirty="0">
                <a:solidFill>
                  <a:srgbClr val="F2C811"/>
                </a:solidFill>
                <a:latin typeface="Calibri" pitchFamily="34" charset="0"/>
                <a:ea typeface="Calibri" pitchFamily="34" charset="-122"/>
                <a:cs typeface="Calibri" pitchFamily="34" charset="-120"/>
              </a:rPr>
              <a:t>20–30 hours</a:t>
            </a:r>
            <a:endParaRPr lang="en-US" sz="1600" dirty="0"/>
          </a:p>
        </p:txBody>
      </p:sp>
      <p:sp>
        <p:nvSpPr>
          <p:cNvPr id="11" name="Text 9"/>
          <p:cNvSpPr txBox="1"/>
          <p:nvPr/>
        </p:nvSpPr>
        <p:spPr>
          <a:xfrm>
            <a:off x="4270248" y="6217920"/>
            <a:ext cx="3657600" cy="320040"/>
          </a:xfrm>
          <a:prstGeom prst="rect">
            <a:avLst/>
          </a:prstGeom>
          <a:noFill/>
          <a:ln/>
        </p:spPr>
        <p:txBody>
          <a:bodyPr wrap="square" lIns="0" tIns="0" rIns="0" bIns="0" rtlCol="0" anchor="t"/>
          <a:lstStyle/>
          <a:p>
            <a:pPr marL="0" indent="0" algn="ctr">
              <a:buNone/>
            </a:pPr>
            <a:r>
              <a:rPr lang="en-US" sz="1300" dirty="0">
                <a:solidFill>
                  <a:srgbClr val="9CA3AF"/>
                </a:solidFill>
                <a:latin typeface="Calibri" pitchFamily="34" charset="0"/>
                <a:ea typeface="Calibri" pitchFamily="34" charset="-122"/>
                <a:cs typeface="Calibri" pitchFamily="34" charset="-120"/>
              </a:rPr>
              <a:t>Most employees</a:t>
            </a:r>
            <a:endParaRPr lang="en-US" sz="1300" dirty="0"/>
          </a:p>
        </p:txBody>
      </p:sp>
      <p:sp>
        <p:nvSpPr>
          <p:cNvPr id="12" name="Shape 10"/>
          <p:cNvSpPr/>
          <p:nvPr/>
        </p:nvSpPr>
        <p:spPr>
          <a:xfrm>
            <a:off x="8531352" y="3840480"/>
            <a:ext cx="1463040" cy="1463040"/>
          </a:xfrm>
          <a:prstGeom prst="ellipse">
            <a:avLst/>
          </a:prstGeom>
          <a:solidFill>
            <a:srgbClr val="2B2B36"/>
          </a:solidFill>
          <a:ln w="19050">
            <a:solidFill>
              <a:srgbClr val="4B5563"/>
            </a:solidFill>
            <a:prstDash val="solid"/>
          </a:ln>
        </p:spPr>
      </p:sp>
      <p:sp>
        <p:nvSpPr>
          <p:cNvPr id="13" name="Text 11"/>
          <p:cNvSpPr txBox="1"/>
          <p:nvPr/>
        </p:nvSpPr>
        <p:spPr>
          <a:xfrm>
            <a:off x="8531352" y="3840480"/>
            <a:ext cx="1463040" cy="1463040"/>
          </a:xfrm>
          <a:prstGeom prst="rect">
            <a:avLst/>
          </a:prstGeom>
          <a:noFill/>
          <a:ln/>
        </p:spPr>
        <p:txBody>
          <a:bodyPr wrap="square" lIns="0" tIns="0" rIns="0" bIns="0" rtlCol="0" anchor="ctr"/>
          <a:lstStyle/>
          <a:p>
            <a:pPr marL="0" indent="0" algn="ctr">
              <a:buNone/>
            </a:pPr>
            <a:r>
              <a:rPr lang="en-US" sz="2000" b="1" dirty="0">
                <a:solidFill>
                  <a:srgbClr val="FFFFFF"/>
                </a:solidFill>
                <a:latin typeface="Cambria" pitchFamily="34" charset="0"/>
                <a:ea typeface="Cambria" pitchFamily="34" charset="-122"/>
                <a:cs typeface="Cambria" pitchFamily="34" charset="-120"/>
              </a:rPr>
              <a:t>Tier 3</a:t>
            </a:r>
            <a:endParaRPr lang="en-US" sz="2000" dirty="0"/>
          </a:p>
        </p:txBody>
      </p:sp>
      <p:sp>
        <p:nvSpPr>
          <p:cNvPr id="14" name="Text 12"/>
          <p:cNvSpPr txBox="1"/>
          <p:nvPr/>
        </p:nvSpPr>
        <p:spPr>
          <a:xfrm>
            <a:off x="8074152" y="5852160"/>
            <a:ext cx="2377440" cy="365760"/>
          </a:xfrm>
          <a:prstGeom prst="rect">
            <a:avLst/>
          </a:prstGeom>
          <a:noFill/>
          <a:ln/>
        </p:spPr>
        <p:txBody>
          <a:bodyPr wrap="square" lIns="0" tIns="0" rIns="0" bIns="0" rtlCol="0" anchor="t"/>
          <a:lstStyle/>
          <a:p>
            <a:pPr marL="0" indent="0" algn="ctr">
              <a:buNone/>
            </a:pPr>
            <a:r>
              <a:rPr lang="en-US" sz="1600" dirty="0">
                <a:solidFill>
                  <a:srgbClr val="D1D5DB"/>
                </a:solidFill>
                <a:latin typeface="Calibri" pitchFamily="34" charset="0"/>
                <a:ea typeface="Calibri" pitchFamily="34" charset="-122"/>
                <a:cs typeface="Calibri" pitchFamily="34" charset="-120"/>
              </a:rPr>
              <a:t>60 hours</a:t>
            </a:r>
            <a:endParaRPr lang="en-US" sz="1600" dirty="0"/>
          </a:p>
        </p:txBody>
      </p:sp>
      <p:sp>
        <p:nvSpPr>
          <p:cNvPr id="15" name="Text 13"/>
          <p:cNvSpPr txBox="1"/>
          <p:nvPr/>
        </p:nvSpPr>
        <p:spPr>
          <a:xfrm>
            <a:off x="7799832" y="6217920"/>
            <a:ext cx="2926080" cy="320040"/>
          </a:xfrm>
          <a:prstGeom prst="rect">
            <a:avLst/>
          </a:prstGeom>
          <a:noFill/>
          <a:ln/>
        </p:spPr>
        <p:txBody>
          <a:bodyPr wrap="square" lIns="0" tIns="0" rIns="0" bIns="0" rtlCol="0" anchor="t"/>
          <a:lstStyle/>
          <a:p>
            <a:pPr marL="0" indent="0" algn="ctr">
              <a:buNone/>
            </a:pPr>
            <a:r>
              <a:rPr lang="en-US" sz="1300" dirty="0">
                <a:solidFill>
                  <a:srgbClr val="9CA3AF"/>
                </a:solidFill>
                <a:latin typeface="Calibri" pitchFamily="34" charset="0"/>
                <a:ea typeface="Calibri" pitchFamily="34" charset="-122"/>
                <a:cs typeface="Calibri" pitchFamily="34" charset="-120"/>
              </a:rPr>
              <a:t>The few who build datasets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TotalTime>
  <Words>739</Words>
  <Application>Microsoft Office PowerPoint</Application>
  <PresentationFormat>Widescreen</PresentationFormat>
  <Paragraphs>123</Paragraphs>
  <Slides>8</Slides>
  <Notes>8</Notes>
  <HiddenSlides>0</HiddenSlides>
  <MMClips>0</MMClips>
  <ScaleCrop>false</ScaleCrop>
  <HeadingPairs>
    <vt:vector size="8" baseType="variant">
      <vt:variant>
        <vt:lpstr>Fonts Used</vt:lpstr>
      </vt:variant>
      <vt:variant>
        <vt:i4>3</vt:i4>
      </vt:variant>
      <vt:variant>
        <vt:lpstr>Theme</vt:lpstr>
      </vt:variant>
      <vt:variant>
        <vt:i4>1</vt:i4>
      </vt:variant>
      <vt:variant>
        <vt:lpstr>Links</vt:lpstr>
      </vt:variant>
      <vt:variant>
        <vt:i4>1</vt:i4>
      </vt:variant>
      <vt:variant>
        <vt:lpstr>Slide Titles</vt:lpstr>
      </vt:variant>
      <vt:variant>
        <vt:i4>8</vt:i4>
      </vt:variant>
    </vt:vector>
  </HeadingPairs>
  <TitlesOfParts>
    <vt:vector size="13" baseType="lpstr">
      <vt:lpstr>Arial</vt:lpstr>
      <vt:lpstr>Calibri</vt:lpstr>
      <vt:lpstr>Cambria</vt:lpstr>
      <vt:lpstr>Office Theme</vt:lpstr>
      <vt:lpstr>C:\Users\rames\OneDrive\Desktop\RAMESH BALAMI\CAREER\PROJECTS\POWER BI\Training Plan\PowerBI_Corporate_Training_3_Tiers.xlsx</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Right-Sizing Power BI Training</dc:title>
  <dc:subject>PptxGenJS Presentation</dc:subject>
  <dc:creator>PptxGenJS</dc:creator>
  <cp:lastModifiedBy>Ramesh Balami</cp:lastModifiedBy>
  <cp:revision>1</cp:revision>
  <dcterms:created xsi:type="dcterms:W3CDTF">2026-09-20T21:53:56Z</dcterms:created>
  <dcterms:modified xsi:type="dcterms:W3CDTF">2026-09-20T22:06:39Z</dcterms:modified>
</cp:coreProperties>
</file>